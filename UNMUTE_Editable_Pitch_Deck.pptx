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e66eed18f394f0a" /><Relationship Type="http://schemas.openxmlformats.org/officeDocument/2006/relationships/extended-properties" Target="/docProps/app.xml" Id="R92625f60b2324f73" /><Relationship Type="http://schemas.openxmlformats.org/officeDocument/2006/relationships/officeDocument" Target="/ppt/presentation.xml" Id="R58aaa92b48254edc" /></Relationships>
</file>

<file path=ppt/presentation.xml><?xml version="1.0" encoding="utf-8"?>
<p:presentation xmlns:p="http://schemas.openxmlformats.org/presentationml/2006/main">
  <p:sldMasterIdLst>
    <p:sldMasterId xmlns:r="http://schemas.openxmlformats.org/officeDocument/2006/relationships" id="2147483648" r:id="R5c0e5b2504b74632"/>
  </p:sldMasterIdLst>
  <p:notesMasterIdLst>
    <p:notesMasterId xmlns:r="http://schemas.openxmlformats.org/officeDocument/2006/relationships" r:id="Rd9105353697a48d0"/>
  </p:notesMasterIdLst>
  <p:sldIdLst>
    <p:sldId xmlns:r="http://schemas.openxmlformats.org/officeDocument/2006/relationships" id="256" r:id="R223932bcec534447"/>
    <p:sldId xmlns:r="http://schemas.openxmlformats.org/officeDocument/2006/relationships" id="257" r:id="R77df1a1af944483d"/>
    <p:sldId xmlns:r="http://schemas.openxmlformats.org/officeDocument/2006/relationships" id="258" r:id="Rf2802ef4057742bc"/>
    <p:sldId xmlns:r="http://schemas.openxmlformats.org/officeDocument/2006/relationships" id="259" r:id="R4f82a4e0eeb14471"/>
    <p:sldId xmlns:r="http://schemas.openxmlformats.org/officeDocument/2006/relationships" id="260" r:id="R92e1a7849a474c37"/>
    <p:sldId xmlns:r="http://schemas.openxmlformats.org/officeDocument/2006/relationships" id="261" r:id="R06ba3e700db149d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2103bd19a284ae6" /><Relationship Type="http://schemas.openxmlformats.org/officeDocument/2006/relationships/slideMaster" Target="/ppt/slideMasters/slideMaster1.xml" Id="R5c0e5b2504b74632" /><Relationship Type="http://schemas.openxmlformats.org/officeDocument/2006/relationships/notesMaster" Target="/ppt/notesMasters/notesMaster1.xml" Id="Rd9105353697a48d0" /><Relationship Type="http://schemas.openxmlformats.org/officeDocument/2006/relationships/presProps" Target="/ppt/presProps.xml" Id="Rc53176a40d9b483d" /><Relationship Type="http://schemas.openxmlformats.org/officeDocument/2006/relationships/tableStyles" Target="/ppt/tableStyles.xml" Id="R25c124ae9f174340" /><Relationship Type="http://schemas.openxmlformats.org/officeDocument/2006/relationships/slide" Target="/ppt/slides/slide1.xml" Id="R223932bcec534447" /><Relationship Type="http://schemas.openxmlformats.org/officeDocument/2006/relationships/slide" Target="/ppt/slides/slide2.xml" Id="R77df1a1af944483d" /><Relationship Type="http://schemas.openxmlformats.org/officeDocument/2006/relationships/slide" Target="/ppt/slides/slide3.xml" Id="Rf2802ef4057742bc" /><Relationship Type="http://schemas.openxmlformats.org/officeDocument/2006/relationships/slide" Target="/ppt/slides/slide4.xml" Id="R4f82a4e0eeb14471" /><Relationship Type="http://schemas.openxmlformats.org/officeDocument/2006/relationships/slide" Target="/ppt/slides/slide5.xml" Id="R92e1a7849a474c37" /><Relationship Type="http://schemas.openxmlformats.org/officeDocument/2006/relationships/slide" Target="/ppt/slides/slide6.xml" Id="R06ba3e700db149d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f9a1e4eef744db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eed37de843b4d6d" /><Relationship Type="http://schemas.openxmlformats.org/officeDocument/2006/relationships/notesMaster" Target="/ppt/notesMasters/notesMaster1.xml" Id="R72c9e92a0e2146c9" /></Relationships>
</file>

<file path=ppt/notesSlides/_rels/notesSlide2.xml.rels>&#65279;<?xml version="1.0" encoding="utf-8"?><Relationships xmlns="http://schemas.openxmlformats.org/package/2006/relationships"><Relationship Type="http://schemas.openxmlformats.org/officeDocument/2006/relationships/slide" Target="/ppt/slides/slide2.xml" Id="Rd0a8b49b70d04ed4" /><Relationship Type="http://schemas.openxmlformats.org/officeDocument/2006/relationships/notesMaster" Target="/ppt/notesMasters/notesMaster1.xml" Id="Rb0bdf320a7634abd" /></Relationships>
</file>

<file path=ppt/notesSlides/_rels/notesSlide3.xml.rels>&#65279;<?xml version="1.0" encoding="utf-8"?><Relationships xmlns="http://schemas.openxmlformats.org/package/2006/relationships"><Relationship Type="http://schemas.openxmlformats.org/officeDocument/2006/relationships/slide" Target="/ppt/slides/slide3.xml" Id="Rdcf2d42847504abd" /><Relationship Type="http://schemas.openxmlformats.org/officeDocument/2006/relationships/notesMaster" Target="/ppt/notesMasters/notesMaster1.xml" Id="Rb8d220ea5bfd4a00" /></Relationships>
</file>

<file path=ppt/notesSlides/_rels/notesSlide4.xml.rels>&#65279;<?xml version="1.0" encoding="utf-8"?><Relationships xmlns="http://schemas.openxmlformats.org/package/2006/relationships"><Relationship Type="http://schemas.openxmlformats.org/officeDocument/2006/relationships/slide" Target="/ppt/slides/slide4.xml" Id="R93c1473fcf2d416f" /><Relationship Type="http://schemas.openxmlformats.org/officeDocument/2006/relationships/notesMaster" Target="/ppt/notesMasters/notesMaster1.xml" Id="R1e4d64411d6d4338" /></Relationships>
</file>

<file path=ppt/notesSlides/_rels/notesSlide5.xml.rels>&#65279;<?xml version="1.0" encoding="utf-8"?><Relationships xmlns="http://schemas.openxmlformats.org/package/2006/relationships"><Relationship Type="http://schemas.openxmlformats.org/officeDocument/2006/relationships/slide" Target="/ppt/slides/slide5.xml" Id="Rd7fbff3978e842da" /><Relationship Type="http://schemas.openxmlformats.org/officeDocument/2006/relationships/notesMaster" Target="/ppt/notesMasters/notesMaster1.xml" Id="R6456d5c7b08a40da" /></Relationships>
</file>

<file path=ppt/notesSlides/_rels/notesSlide6.xml.rels>&#65279;<?xml version="1.0" encoding="utf-8"?><Relationships xmlns="http://schemas.openxmlformats.org/package/2006/relationships"><Relationship Type="http://schemas.openxmlformats.org/officeDocument/2006/relationships/slide" Target="/ppt/slides/slide6.xml" Id="R9eb6406317184ef1" /><Relationship Type="http://schemas.openxmlformats.org/officeDocument/2006/relationships/notesMaster" Target="/ppt/notesMasters/notesMaster1.xml" Id="R409be48d0fe942a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user-supplied unmute_pitch_deck.pdf. Product details: https://github.com/walshdsouza/Bit-n-Build/blob/main/README.md (main at 1aa2318, 13 September 2026).</a:t>
            </a:r>
          </a:p>
          <a:p xmlns:a="http://schemas.openxmlformats.org/drawingml/2006/main">
            <a:r>
              <a:t>Team and selected track preserved from the source deck. Current product focus: English input and ASL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user-supplied unmute_pitch_deck.pdf. Product details: https://github.com/walshdsouza/Bit-n-Build/blob/main/README.md (main at 1aa2318, 13 September 2026).</a:t>
            </a:r>
          </a:p>
          <a:p xmlns:a="http://schemas.openxmlformats.org/drawingml/2006/main">
            <a:r>
              <a:t>This slide describes the design rationale. It does not present a measured outcome or a comparative study of existing translators.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user-supplied unmute_pitch_deck.pdf. Product details: https://github.com/walshdsouza/Bit-n-Build/blob/main/README.md (main at 1aa2318, 13 September 2026).</a:t>
            </a:r>
          </a:p>
          <a:p xmlns:a="http://schemas.openxmlformats.org/drawingml/2006/main">
            <a:r>
              <a:t>YouTube availability depends on public access and the configured transcript provider. Live capture supports microphone, shared tab, or both. The current avatar is NEXA. Translation quality requires validation with fluent ASL users.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user-supplied unmute_pitch_deck.pdf. Product details: https://github.com/walshdsouza/Bit-n-Build/blob/main/README.md (main at 1aa2318, 13 September 2026).</a:t>
            </a:r>
          </a:p>
          <a:p xmlns:a="http://schemas.openxmlformats.org/drawingml/2006/main">
            <a:r>
              <a:t>Technical references: lib/live-audio.ts (LIVE_CHUNK_SECONDS=5), components/player/NexaAvatar.tsx, components/player/avatar/nexaRig.ts, extension/manifest.json. The optional meeting extension is a Firefox Manifest V2 sidebar. Supabase sign-in and cloud history are optional. This is not a claim of zero latency or edge-hosted ASR.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user-supplied unmute_pitch_deck.pdf. Product details: https://github.com/walshdsouza/Bit-n-Build/blob/main/README.md (main at 1aa2318, 13 September 2026).</a:t>
            </a:r>
          </a:p>
          <a:p xmlns:a="http://schemas.openxmlformats.org/drawingml/2006/main">
            <a:r>
              <a:t>Impact is an intended outcome, not a measured result. ISL and BSL are separate languages. Broader language support, native enterprise integrations, and a partner API remain future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user-supplied unmute_pitch_deck.pdf. Product details: https://github.com/walshdsouza/Bit-n-Build/blob/main/README.md (main at 1aa2318, 13 September 2026).</a:t>
            </a:r>
          </a:p>
          <a:p xmlns:a="http://schemas.openxmlformats.org/drawingml/2006/main">
            <a:r>
              <a:t>Screenshot: repository public/features/player.png. Links: https://unmute-ai.vercel.app ; https://unmute-ai.vercel.app/player/demo ; https://unmute-ai.vercel.app/live ; https://github.com/walshdsouza/Bit-n-Build . Future improvements are not current features.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2025411d9dd4d9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0c0499f6a074b80" /><Relationship Type="http://schemas.openxmlformats.org/officeDocument/2006/relationships/slideLayout" Target="/ppt/slideLayouts/slideLayout1.xml" Id="R37045e5fa7a54ba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7045e5fa7a54ba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5887bc2e2bc43bd" /><Relationship Type="http://schemas.openxmlformats.org/officeDocument/2006/relationships/image" Target="/ppt/media/image.png" Id="Rb967589cc3524fe0" /><Relationship Type="http://schemas.openxmlformats.org/officeDocument/2006/relationships/image" Target="/ppt/media/image2.png" Id="Rf04d30da7b7c4620" /><Relationship Type="http://schemas.openxmlformats.org/officeDocument/2006/relationships/image" Target="/ppt/media/image3.png" Id="R959b51760405420c" /><Relationship Type="http://schemas.openxmlformats.org/officeDocument/2006/relationships/image" Target="/ppt/media/image.jpeg" Id="R5990057e1b544d6b" /><Relationship Type="http://schemas.openxmlformats.org/officeDocument/2006/relationships/notesSlide" Target="/ppt/notesSlides/notesSlide1.xml" Id="Rfda9c275513c4fd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1c06d5d612a45cd" /><Relationship Type="http://schemas.openxmlformats.org/officeDocument/2006/relationships/image" Target="/ppt/media/image4.png" Id="R9c7fe7f75ebb4024" /><Relationship Type="http://schemas.openxmlformats.org/officeDocument/2006/relationships/image" Target="/ppt/media/image5.png" Id="Rf058c16f9a0e46e1" /><Relationship Type="http://schemas.openxmlformats.org/officeDocument/2006/relationships/image" Target="/ppt/media/image2.jpeg" Id="R8ca9455aef7a4f0f" /><Relationship Type="http://schemas.openxmlformats.org/officeDocument/2006/relationships/notesSlide" Target="/ppt/notesSlides/notesSlide2.xml" Id="R8cdc48bb37c84a3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435d45392a543e0" /><Relationship Type="http://schemas.openxmlformats.org/officeDocument/2006/relationships/image" Target="/ppt/media/image6.png" Id="Rde99570b10c245b4" /><Relationship Type="http://schemas.openxmlformats.org/officeDocument/2006/relationships/image" Target="/ppt/media/image7.png" Id="Rb478b64045d34dbc" /><Relationship Type="http://schemas.openxmlformats.org/officeDocument/2006/relationships/image" Target="/ppt/media/image8.png" Id="R6cac2f76cdcc4450" /><Relationship Type="http://schemas.openxmlformats.org/officeDocument/2006/relationships/image" Target="/ppt/media/image3.jpeg" Id="Rca94d2ce045d4dce" /><Relationship Type="http://schemas.openxmlformats.org/officeDocument/2006/relationships/notesSlide" Target="/ppt/notesSlides/notesSlide3.xml" Id="Rc6f8b684b28a4db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82f1bcb4b5f4727" /><Relationship Type="http://schemas.openxmlformats.org/officeDocument/2006/relationships/image" Target="/ppt/media/image9.png" Id="R5abe5384dd1b4a8b" /><Relationship Type="http://schemas.openxmlformats.org/officeDocument/2006/relationships/image" Target="/ppt/media/image10.png" Id="R869c7999aa9844f4" /><Relationship Type="http://schemas.openxmlformats.org/officeDocument/2006/relationships/image" Target="/ppt/media/image11.png" Id="Rc616bcf212f94d2e" /><Relationship Type="http://schemas.openxmlformats.org/officeDocument/2006/relationships/image" Target="/ppt/media/image4.jpeg" Id="R474eda07eda8494c" /><Relationship Type="http://schemas.openxmlformats.org/officeDocument/2006/relationships/notesSlide" Target="/ppt/notesSlides/notesSlide4.xml" Id="Rd98909fbde4d453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c5078d8da6f4fa8" /><Relationship Type="http://schemas.openxmlformats.org/officeDocument/2006/relationships/image" Target="/ppt/media/image12.png" Id="R63cb3a3f6f6049de" /><Relationship Type="http://schemas.openxmlformats.org/officeDocument/2006/relationships/image" Target="/ppt/media/image13.png" Id="Rda3d394b521c4001" /><Relationship Type="http://schemas.openxmlformats.org/officeDocument/2006/relationships/image" Target="/ppt/media/image5.jpeg" Id="Rfe410da0af7941bc" /><Relationship Type="http://schemas.openxmlformats.org/officeDocument/2006/relationships/notesSlide" Target="/ppt/notesSlides/notesSlide5.xml" Id="R7d21fb87525d4bf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2dd35018de74736" /><Relationship Type="http://schemas.openxmlformats.org/officeDocument/2006/relationships/image" Target="/ppt/media/image14.png" Id="R30e827860dc94ded" /><Relationship Type="http://schemas.openxmlformats.org/officeDocument/2006/relationships/image" Target="/ppt/media/image15.png" Id="R9fd49205a7fc4aab" /><Relationship Type="http://schemas.openxmlformats.org/officeDocument/2006/relationships/image" Target="/ppt/media/image16.png" Id="Rb582b716366d4f9e" /><Relationship Type="http://schemas.openxmlformats.org/officeDocument/2006/relationships/image" Target="/ppt/media/image6.jpeg" Id="R5acdd54711b64af8" /><Relationship Type="http://schemas.openxmlformats.org/officeDocument/2006/relationships/image" Target="/ppt/media/image17.png" Id="R62432a2b79754fd1" /><Relationship Type="http://schemas.openxmlformats.org/officeDocument/2006/relationships/hyperlink" Target="https://unmute-ai.vercel.app/player/demo" TargetMode="External" Id="Rde1f26a65ce442b9" /><Relationship Type="http://schemas.openxmlformats.org/officeDocument/2006/relationships/hyperlink" Target="https://unmute-ai.vercel.app" TargetMode="External" Id="R1b5e9c20f6cc4833" /><Relationship Type="http://schemas.openxmlformats.org/officeDocument/2006/relationships/hyperlink" Target="https://unmute-ai.vercel.app/live" TargetMode="External" Id="R9b277e220c144332" /><Relationship Type="http://schemas.openxmlformats.org/officeDocument/2006/relationships/hyperlink" Target="https://github.com/walshdsouza/Bit-n-Build" TargetMode="External" Id="R35b537ebea154330" /><Relationship Type="http://schemas.openxmlformats.org/officeDocument/2006/relationships/notesSlide" Target="/ppt/notesSlides/notesSlide6.xml" Id="Rc191ed1ccadd49da" /></Relationships>
</file>

<file path=ppt/slides/slide1.xml><?xml version="1.0" encoding="utf-8"?>
<p:sld xmlns:p="http://schemas.openxmlformats.org/presentationml/2006/main">
  <p:cSld>
    <p:bg>
      <p:bgPr>
        <a:solidFill xmlns:a="http://schemas.openxmlformats.org/drawingml/2006/main">
          <a:srgbClr val="04050D"/>
        </a:solidFill>
      </p:bgPr>
    </p:bg>
    <p:spTree>
      <p:nvGrpSpPr>
        <p:cNvPr id="1" name=""/>
        <p:cNvGrpSpPr/>
        <p:nvPr/>
      </p:nvGrpSpPr>
      <p:grpSpPr>
        <a:xfrm xmlns:a="http://schemas.openxmlformats.org/drawingml/2006/main"/>
      </p:grpSpPr>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b967589cc3524fe0"/>
          <a:stretch xmlns:a="http://schemas.openxmlformats.org/drawingml/2006/main"/>
        </p:blipFill>
        <p:spPr>
          <a:xfrm xmlns:a="http://schemas.openxmlformats.org/drawingml/2006/main">
            <a:off x="0" y="823"/>
            <a:ext cx="5734050" cy="5351405"/>
          </a:xfrm>
          <a:prstGeom xmlns:a="http://schemas.openxmlformats.org/drawingml/2006/main" prst="rect">
            <a:avLst/>
          </a:prstGeom>
        </p:spPr>
      </p:pic>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f04d30da7b7c4620"/>
          <a:stretch xmlns:a="http://schemas.openxmlformats.org/drawingml/2006/main"/>
        </p:blipFill>
        <p:spPr>
          <a:xfrm xmlns:a="http://schemas.openxmlformats.org/drawingml/2006/main">
            <a:off x="6279271" y="1514475"/>
            <a:ext cx="5910433" cy="5343525"/>
          </a:xfrm>
          <a:prstGeom xmlns:a="http://schemas.openxmlformats.org/drawingml/2006/main" prst="rect">
            <a:avLst/>
          </a:prstGeom>
        </p:spPr>
      </p:pic>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959b51760405420c"/>
          <a:stretch xmlns:a="http://schemas.openxmlformats.org/drawingml/2006/main"/>
        </p:blipFill>
        <p:spPr>
          <a:xfrm xmlns:a="http://schemas.openxmlformats.org/drawingml/2006/main">
            <a:off x="5135170" y="0"/>
            <a:ext cx="7055635" cy="5819775"/>
          </a:xfrm>
          <a:prstGeom xmlns:a="http://schemas.openxmlformats.org/drawingml/2006/main" prst="rect">
            <a:avLst/>
          </a:prstGeom>
        </p:spPr>
      </p:pic>
      <p:sp>
        <p:nvSpPr>
          <p:cNvPr id="4" name="Background tint 1">
            <a:extLst xmlns:a="http://schemas.openxmlformats.org/drawingml/2006/main">
              <a:ext uri="{FF2B5EF4-FFF2-40B4-BE49-F238E27FC236}">
                <a16:creationId xmlns:a16="http://schemas.microsoft.com/office/drawing/2014/main" id="{17EB93B5-A0C3-4FAE-A5E9-B4A01F6CE8C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oundRect">
            <a:avLst>
              <a:gd name="adj" fmla="val 0"/>
            </a:avLst>
          </a:prstGeom>
          <a:solidFill xmlns:a="http://schemas.openxmlformats.org/drawingml/2006/main">
            <a:srgbClr val="04050D">
              <a:alpha val="60000"/>
            </a:srgbClr>
          </a:solidFill>
          <a:ln xmlns:a="http://schemas.openxmlformats.org/drawingml/2006/main" w="0">
            <a:noFill/>
          </a:ln>
        </p:spPr>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5990057e1b544d6b"/>
          <a:srcRect xmlns:a="http://schemas.openxmlformats.org/drawingml/2006/main" l="22705" t="0" r="22705" b="0"/>
          <a:stretch xmlns:a="http://schemas.openxmlformats.org/drawingml/2006/main">
            <a:fillRect l="0" t="0" r="0" b="0"/>
          </a:stretch>
        </p:blipFill>
        <p:spPr>
          <a:xfrm xmlns:a="http://schemas.openxmlformats.org/drawingml/2006/main">
            <a:off x="514350" y="209550"/>
            <a:ext cx="333375" cy="333375"/>
          </a:xfrm>
          <a:prstGeom xmlns:a="http://schemas.openxmlformats.org/drawingml/2006/main" prst="ellipse">
            <a:avLst/>
          </a:prstGeom>
        </p:spPr>
      </p:pic>
      <p:sp>
        <p:nvSpPr>
          <p:cNvPr id="6" name="U N M U T E 2">
            <a:extLst xmlns:a="http://schemas.openxmlformats.org/drawingml/2006/main">
              <a:ext uri="{FF2B5EF4-FFF2-40B4-BE49-F238E27FC236}">
                <a16:creationId xmlns:a16="http://schemas.microsoft.com/office/drawing/2014/main" id="{C9E80BF0-1AF9-4868-A70E-05118C62D0CF}"/>
              </a:ext>
            </a:extLst>
          </p:cNvPr>
          <p:cNvSpPr>
            <a:spLocks xmlns:a="http://schemas.openxmlformats.org/drawingml/2006/main" noGrp="1"/>
          </p:cNvSpPr>
          <p:nvPr/>
        </p:nvSpPr>
        <p:spPr>
          <a:xfrm xmlns:a="http://schemas.openxmlformats.org/drawingml/2006/main">
            <a:off x="962025" y="2857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40DDFF"/>
                </a:solidFill>
                <a:latin typeface="Arial"/>
                <a:ea typeface="Arial"/>
                <a:cs typeface="Arial"/>
              </a:defRPr>
            </a:pPr>
            <a:r>
              <a:rPr sz="1050" b="1">
                <a:solidFill>
                  <a:srgbClr val="40DDFF"/>
                </a:solidFill>
                <a:latin typeface="Arial"/>
                <a:ea typeface="Arial"/>
                <a:cs typeface="Arial"/>
              </a:rPr>
              <a:t>U N M U T E</a:t>
            </a:r>
          </a:p>
        </p:txBody>
      </p:sp>
      <p:sp>
        <p:nvSpPr>
          <p:cNvPr id="7" name="01 / 06 3">
            <a:extLst xmlns:a="http://schemas.openxmlformats.org/drawingml/2006/main">
              <a:ext uri="{FF2B5EF4-FFF2-40B4-BE49-F238E27FC236}">
                <a16:creationId xmlns:a16="http://schemas.microsoft.com/office/drawing/2014/main" id="{D3BDDF35-124E-49AF-907F-D03979E60368}"/>
              </a:ext>
            </a:extLst>
          </p:cNvPr>
          <p:cNvSpPr>
            <a:spLocks xmlns:a="http://schemas.openxmlformats.org/drawingml/2006/main" noGrp="1"/>
          </p:cNvSpPr>
          <p:nvPr/>
        </p:nvSpPr>
        <p:spPr>
          <a:xfrm xmlns:a="http://schemas.openxmlformats.org/drawingml/2006/main">
            <a:off x="10668000" y="295275"/>
            <a:ext cx="1009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1">
                <a:solidFill>
                  <a:srgbClr val="A7B5D4"/>
                </a:solidFill>
                <a:latin typeface="Arial"/>
                <a:ea typeface="Arial"/>
                <a:cs typeface="Arial"/>
              </a:defRPr>
            </a:pPr>
            <a:r>
              <a:rPr sz="975" b="1">
                <a:solidFill>
                  <a:srgbClr val="A7B5D4"/>
                </a:solidFill>
                <a:latin typeface="Arial"/>
                <a:ea typeface="Arial"/>
                <a:cs typeface="Arial"/>
              </a:rPr>
              <a:t>01 / 06</a:t>
            </a:r>
          </a:p>
        </p:txBody>
      </p:sp>
      <p:sp>
        <p:nvSpPr>
          <p:cNvPr id="8" name="R A M P A G E   /   B I T  N  B U I L D  2 4">
            <a:extLst xmlns:a="http://schemas.openxmlformats.org/drawingml/2006/main">
              <a:ext uri="{FF2B5EF4-FFF2-40B4-BE49-F238E27FC236}">
                <a16:creationId xmlns:a16="http://schemas.microsoft.com/office/drawing/2014/main" id="{59133BBC-8293-4FE5-8ABC-0C50EC412B3C}"/>
              </a:ext>
            </a:extLst>
          </p:cNvPr>
          <p:cNvSpPr>
            <a:spLocks xmlns:a="http://schemas.openxmlformats.org/drawingml/2006/main" noGrp="1"/>
          </p:cNvSpPr>
          <p:nvPr/>
        </p:nvSpPr>
        <p:spPr>
          <a:xfrm xmlns:a="http://schemas.openxmlformats.org/drawingml/2006/main">
            <a:off x="533400" y="6591300"/>
            <a:ext cx="95250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50" b="0">
                <a:solidFill>
                  <a:srgbClr val="A7B5D4"/>
                </a:solidFill>
                <a:latin typeface="Arial"/>
                <a:ea typeface="Arial"/>
                <a:cs typeface="Arial"/>
              </a:defRPr>
            </a:pPr>
            <a:r>
              <a:rPr sz="750" b="0">
                <a:solidFill>
                  <a:srgbClr val="A7B5D4"/>
                </a:solidFill>
                <a:latin typeface="Arial"/>
                <a:ea typeface="Arial"/>
                <a:cs typeface="Arial"/>
              </a:rPr>
              <a:t>R A M P A G E   /   B I T  N  B U I L D  2 0 2 6</a:t>
            </a:r>
          </a:p>
        </p:txBody>
      </p:sp>
      <p:sp>
        <p:nvSpPr>
          <p:cNvPr id="9" name="Hackathon label 5">
            <a:extLst xmlns:a="http://schemas.openxmlformats.org/drawingml/2006/main">
              <a:ext uri="{FF2B5EF4-FFF2-40B4-BE49-F238E27FC236}">
                <a16:creationId xmlns:a16="http://schemas.microsoft.com/office/drawing/2014/main" id="{EF2E814A-5453-4F83-BEC3-EAA910013E0E}"/>
              </a:ext>
            </a:extLst>
          </p:cNvPr>
          <p:cNvSpPr>
            <a:spLocks xmlns:a="http://schemas.openxmlformats.org/drawingml/2006/main" noGrp="1"/>
          </p:cNvSpPr>
          <p:nvPr/>
        </p:nvSpPr>
        <p:spPr>
          <a:xfrm xmlns:a="http://schemas.openxmlformats.org/drawingml/2006/main">
            <a:off x="3762375" y="1076325"/>
            <a:ext cx="4667250" cy="342900"/>
          </a:xfrm>
          <a:prstGeom xmlns:a="http://schemas.openxmlformats.org/drawingml/2006/main" prst="roundRect">
            <a:avLst>
              <a:gd name="adj" fmla="val 50000"/>
            </a:avLst>
          </a:prstGeom>
          <a:solidFill xmlns:a="http://schemas.openxmlformats.org/drawingml/2006/main">
            <a:srgbClr val="42D8FF">
              <a:alpha val="6000"/>
            </a:srgbClr>
          </a:solidFill>
          <a:ln xmlns:a="http://schemas.openxmlformats.org/drawingml/2006/main" w="6668">
            <a:solidFill>
              <a:srgbClr val="357489"/>
            </a:solidFill>
          </a:ln>
        </p:spPr>
      </p:sp>
      <p:sp>
        <p:nvSpPr>
          <p:cNvPr id="10" name="BIT N BUILD 2026  /  HACKATHON PITCH 6">
            <a:extLst xmlns:a="http://schemas.openxmlformats.org/drawingml/2006/main">
              <a:ext uri="{FF2B5EF4-FFF2-40B4-BE49-F238E27FC236}">
                <a16:creationId xmlns:a16="http://schemas.microsoft.com/office/drawing/2014/main" id="{A0761C23-3228-48C6-B827-C2981572DC22}"/>
              </a:ext>
            </a:extLst>
          </p:cNvPr>
          <p:cNvSpPr>
            <a:spLocks xmlns:a="http://schemas.openxmlformats.org/drawingml/2006/main" noGrp="1"/>
          </p:cNvSpPr>
          <p:nvPr/>
        </p:nvSpPr>
        <p:spPr>
          <a:xfrm xmlns:a="http://schemas.openxmlformats.org/drawingml/2006/main">
            <a:off x="3924300" y="1171575"/>
            <a:ext cx="434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1">
                <a:solidFill>
                  <a:srgbClr val="40DDFF"/>
                </a:solidFill>
                <a:latin typeface="Arial"/>
                <a:ea typeface="Arial"/>
                <a:cs typeface="Arial"/>
              </a:defRPr>
            </a:pPr>
            <a:r>
              <a:rPr sz="1050" b="1">
                <a:solidFill>
                  <a:srgbClr val="40DDFF"/>
                </a:solidFill>
                <a:latin typeface="Arial"/>
                <a:ea typeface="Arial"/>
                <a:cs typeface="Arial"/>
              </a:rPr>
              <a:t>BIT N BUILD 2026  /  HACKATHON PITCH</a:t>
            </a:r>
          </a:p>
        </p:txBody>
      </p:sp>
      <p:sp>
        <p:nvSpPr>
          <p:cNvPr id="11" name="UNMUTE 7">
            <a:extLst xmlns:a="http://schemas.openxmlformats.org/drawingml/2006/main">
              <a:ext uri="{FF2B5EF4-FFF2-40B4-BE49-F238E27FC236}">
                <a16:creationId xmlns:a16="http://schemas.microsoft.com/office/drawing/2014/main" id="{15C96AC5-9BA7-4C72-955D-4FEA5D819A63}"/>
              </a:ext>
            </a:extLst>
          </p:cNvPr>
          <p:cNvSpPr>
            <a:spLocks xmlns:a="http://schemas.openxmlformats.org/drawingml/2006/main" noGrp="1"/>
          </p:cNvSpPr>
          <p:nvPr/>
        </p:nvSpPr>
        <p:spPr>
          <a:xfrm xmlns:a="http://schemas.openxmlformats.org/drawingml/2006/main">
            <a:off x="2000250" y="1533525"/>
            <a:ext cx="819150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9000" b="1">
                <a:solidFill>
                  <a:srgbClr val="E8EEFD"/>
                </a:solidFill>
                <a:latin typeface="Arial"/>
                <a:ea typeface="Arial"/>
                <a:cs typeface="Arial"/>
              </a:defRPr>
            </a:pPr>
            <a:r>
              <a:rPr sz="9000" b="1">
                <a:gradFill>
                  <a:gsLst>
                    <a:gs pos="0">
                      <a:srgbClr val="40DDFF"/>
                    </a:gs>
                    <a:gs pos="50000">
                      <a:srgbClr val="9C7CFF"/>
                    </a:gs>
                    <a:gs pos="100000">
                      <a:srgbClr val="E775D2"/>
                    </a:gs>
                  </a:gsLst>
                  <a:lin ang="0"/>
                </a:gradFill>
                <a:latin typeface="Arial"/>
                <a:ea typeface="Arial"/>
                <a:cs typeface="Arial"/>
              </a:rPr>
              <a:t>UNMUTE</a:t>
            </a:r>
          </a:p>
        </p:txBody>
      </p:sp>
      <p:sp>
        <p:nvSpPr>
          <p:cNvPr id="12" name="AI ACCESSIBILITY PRODUCT 8">
            <a:extLst xmlns:a="http://schemas.openxmlformats.org/drawingml/2006/main">
              <a:ext uri="{FF2B5EF4-FFF2-40B4-BE49-F238E27FC236}">
                <a16:creationId xmlns:a16="http://schemas.microsoft.com/office/drawing/2014/main" id="{C9497F46-5505-4FA8-A00A-BAFF7FC72F8D}"/>
              </a:ext>
            </a:extLst>
          </p:cNvPr>
          <p:cNvSpPr>
            <a:spLocks xmlns:a="http://schemas.openxmlformats.org/drawingml/2006/main" noGrp="1"/>
          </p:cNvSpPr>
          <p:nvPr/>
        </p:nvSpPr>
        <p:spPr>
          <a:xfrm xmlns:a="http://schemas.openxmlformats.org/drawingml/2006/main">
            <a:off x="2286000" y="2905125"/>
            <a:ext cx="7620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1">
                <a:solidFill>
                  <a:srgbClr val="A7B5D4"/>
                </a:solidFill>
                <a:latin typeface="Arial"/>
                <a:ea typeface="Arial"/>
                <a:cs typeface="Arial"/>
              </a:defRPr>
            </a:pPr>
            <a:r>
              <a:rPr sz="1275" b="1">
                <a:solidFill>
                  <a:srgbClr val="A7B5D4"/>
                </a:solidFill>
                <a:latin typeface="Arial"/>
                <a:ea typeface="Arial"/>
                <a:cs typeface="Arial"/>
              </a:rPr>
              <a:t>AI ACCESSIBILITY PRODUCT</a:t>
            </a:r>
          </a:p>
        </p:txBody>
      </p:sp>
      <p:sp>
        <p:nvSpPr>
          <p:cNvPr id="13" name="Panel 9">
            <a:extLst xmlns:a="http://schemas.openxmlformats.org/drawingml/2006/main">
              <a:ext uri="{FF2B5EF4-FFF2-40B4-BE49-F238E27FC236}">
                <a16:creationId xmlns:a16="http://schemas.microsoft.com/office/drawing/2014/main" id="{E08C4323-8DFF-4885-BFAE-22DD154A7F05}"/>
              </a:ext>
            </a:extLst>
          </p:cNvPr>
          <p:cNvSpPr>
            <a:spLocks xmlns:a="http://schemas.openxmlformats.org/drawingml/2006/main" noGrp="1"/>
          </p:cNvSpPr>
          <p:nvPr/>
        </p:nvSpPr>
        <p:spPr>
          <a:xfrm xmlns:a="http://schemas.openxmlformats.org/drawingml/2006/main">
            <a:off x="1809750" y="3524250"/>
            <a:ext cx="8572500" cy="1466850"/>
          </a:xfrm>
          <a:prstGeom xmlns:a="http://schemas.openxmlformats.org/drawingml/2006/main" prst="roundRect">
            <a:avLst>
              <a:gd name="adj" fmla="val 11688"/>
            </a:avLst>
          </a:prstGeom>
          <a:solidFill xmlns:a="http://schemas.openxmlformats.org/drawingml/2006/main">
            <a:srgbClr val="FFFFFF">
              <a:alpha val="4000"/>
            </a:srgbClr>
          </a:solidFill>
          <a:ln xmlns:a="http://schemas.openxmlformats.org/drawingml/2006/main" w="6668">
            <a:solidFill>
              <a:srgbClr val="414451"/>
            </a:solidFill>
          </a:ln>
        </p:spPr>
      </p:sp>
      <p:sp>
        <p:nvSpPr>
          <p:cNvPr id="14" name="TEAM NAME 10">
            <a:extLst xmlns:a="http://schemas.openxmlformats.org/drawingml/2006/main">
              <a:ext uri="{FF2B5EF4-FFF2-40B4-BE49-F238E27FC236}">
                <a16:creationId xmlns:a16="http://schemas.microsoft.com/office/drawing/2014/main" id="{CA14ECB0-F1BF-4675-8897-508CCC472049}"/>
              </a:ext>
            </a:extLst>
          </p:cNvPr>
          <p:cNvSpPr>
            <a:spLocks xmlns:a="http://schemas.openxmlformats.org/drawingml/2006/main" noGrp="1"/>
          </p:cNvSpPr>
          <p:nvPr/>
        </p:nvSpPr>
        <p:spPr>
          <a:xfrm xmlns:a="http://schemas.openxmlformats.org/drawingml/2006/main">
            <a:off x="2066925" y="3762375"/>
            <a:ext cx="1600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40DDFF"/>
                </a:solidFill>
                <a:latin typeface="Arial"/>
                <a:ea typeface="Arial"/>
                <a:cs typeface="Arial"/>
              </a:defRPr>
            </a:pPr>
            <a:r>
              <a:rPr sz="1050" b="1">
                <a:solidFill>
                  <a:srgbClr val="40DDFF"/>
                </a:solidFill>
                <a:latin typeface="Arial"/>
                <a:ea typeface="Arial"/>
                <a:cs typeface="Arial"/>
              </a:rPr>
              <a:t>TEAM NAME</a:t>
            </a:r>
          </a:p>
        </p:txBody>
      </p:sp>
      <p:sp>
        <p:nvSpPr>
          <p:cNvPr id="15" name="RAMPAGE 11">
            <a:extLst xmlns:a="http://schemas.openxmlformats.org/drawingml/2006/main">
              <a:ext uri="{FF2B5EF4-FFF2-40B4-BE49-F238E27FC236}">
                <a16:creationId xmlns:a16="http://schemas.microsoft.com/office/drawing/2014/main" id="{213DE8A2-7D1A-466C-87EC-3D3965F4C60E}"/>
              </a:ext>
            </a:extLst>
          </p:cNvPr>
          <p:cNvSpPr>
            <a:spLocks xmlns:a="http://schemas.openxmlformats.org/drawingml/2006/main" noGrp="1"/>
          </p:cNvSpPr>
          <p:nvPr/>
        </p:nvSpPr>
        <p:spPr>
          <a:xfrm xmlns:a="http://schemas.openxmlformats.org/drawingml/2006/main">
            <a:off x="3838575" y="3724275"/>
            <a:ext cx="6248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E8EEFD"/>
                </a:solidFill>
                <a:latin typeface="Arial"/>
                <a:ea typeface="Arial"/>
                <a:cs typeface="Arial"/>
              </a:defRPr>
            </a:pPr>
            <a:r>
              <a:rPr sz="1500" b="1">
                <a:solidFill>
                  <a:srgbClr val="E8EEFD"/>
                </a:solidFill>
                <a:latin typeface="Arial"/>
                <a:ea typeface="Arial"/>
                <a:cs typeface="Arial"/>
              </a:rPr>
              <a:t>RAMPAGE</a:t>
            </a:r>
          </a:p>
        </p:txBody>
      </p:sp>
      <p:sp>
        <p:nvSpPr>
          <p:cNvPr id="16" name="Divider 12">
            <a:extLst xmlns:a="http://schemas.openxmlformats.org/drawingml/2006/main">
              <a:ext uri="{FF2B5EF4-FFF2-40B4-BE49-F238E27FC236}">
                <a16:creationId xmlns:a16="http://schemas.microsoft.com/office/drawing/2014/main" id="{E5C534F3-3FF9-4610-9C1B-F4636964D315}"/>
              </a:ext>
            </a:extLst>
          </p:cNvPr>
          <p:cNvSpPr>
            <a:spLocks xmlns:a="http://schemas.openxmlformats.org/drawingml/2006/main" noGrp="1"/>
          </p:cNvSpPr>
          <p:nvPr/>
        </p:nvSpPr>
        <p:spPr>
          <a:xfrm xmlns:a="http://schemas.openxmlformats.org/drawingml/2006/main">
            <a:off x="2066925" y="4048125"/>
            <a:ext cx="8058150" cy="0"/>
          </a:xfrm>
          <a:prstGeom xmlns:a="http://schemas.openxmlformats.org/drawingml/2006/main" prst="line">
            <a:avLst/>
          </a:prstGeom>
          <a:noFill xmlns:a="http://schemas.openxmlformats.org/drawingml/2006/main"/>
          <a:ln xmlns:a="http://schemas.openxmlformats.org/drawingml/2006/main" w="9525">
            <a:solidFill>
              <a:srgbClr val="FFFFFF">
                <a:alpha val="9000"/>
              </a:srgbClr>
            </a:solidFill>
          </a:ln>
        </p:spPr>
      </p:sp>
      <p:sp>
        <p:nvSpPr>
          <p:cNvPr id="17" name="MEMBERS 13">
            <a:extLst xmlns:a="http://schemas.openxmlformats.org/drawingml/2006/main">
              <a:ext uri="{FF2B5EF4-FFF2-40B4-BE49-F238E27FC236}">
                <a16:creationId xmlns:a16="http://schemas.microsoft.com/office/drawing/2014/main" id="{2F3DAB0A-9FF6-425B-B0F7-6E34337FE128}"/>
              </a:ext>
            </a:extLst>
          </p:cNvPr>
          <p:cNvSpPr>
            <a:spLocks xmlns:a="http://schemas.openxmlformats.org/drawingml/2006/main" noGrp="1"/>
          </p:cNvSpPr>
          <p:nvPr/>
        </p:nvSpPr>
        <p:spPr>
          <a:xfrm xmlns:a="http://schemas.openxmlformats.org/drawingml/2006/main">
            <a:off x="2066925" y="4181475"/>
            <a:ext cx="1600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40DDFF"/>
                </a:solidFill>
                <a:latin typeface="Arial"/>
                <a:ea typeface="Arial"/>
                <a:cs typeface="Arial"/>
              </a:defRPr>
            </a:pPr>
            <a:r>
              <a:rPr sz="1050" b="1">
                <a:solidFill>
                  <a:srgbClr val="40DDFF"/>
                </a:solidFill>
                <a:latin typeface="Arial"/>
                <a:ea typeface="Arial"/>
                <a:cs typeface="Arial"/>
              </a:rPr>
              <a:t>MEMBERS</a:t>
            </a:r>
          </a:p>
        </p:txBody>
      </p:sp>
      <p:sp>
        <p:nvSpPr>
          <p:cNvPr id="18" name="Walsh D’Souza  ·  Soham Pendse  ·  Vauldan 14">
            <a:extLst xmlns:a="http://schemas.openxmlformats.org/drawingml/2006/main">
              <a:ext uri="{FF2B5EF4-FFF2-40B4-BE49-F238E27FC236}">
                <a16:creationId xmlns:a16="http://schemas.microsoft.com/office/drawing/2014/main" id="{A524812C-BF90-4315-A9DE-2685783398A3}"/>
              </a:ext>
            </a:extLst>
          </p:cNvPr>
          <p:cNvSpPr>
            <a:spLocks xmlns:a="http://schemas.openxmlformats.org/drawingml/2006/main" noGrp="1"/>
          </p:cNvSpPr>
          <p:nvPr/>
        </p:nvSpPr>
        <p:spPr>
          <a:xfrm xmlns:a="http://schemas.openxmlformats.org/drawingml/2006/main">
            <a:off x="3838575" y="4143375"/>
            <a:ext cx="6248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E8EEFD"/>
                </a:solidFill>
                <a:latin typeface="Arial"/>
                <a:ea typeface="Arial"/>
                <a:cs typeface="Arial"/>
              </a:defRPr>
            </a:pPr>
            <a:r>
              <a:rPr sz="1275" b="0">
                <a:solidFill>
                  <a:srgbClr val="E8EEFD"/>
                </a:solidFill>
                <a:latin typeface="Arial"/>
                <a:ea typeface="Arial"/>
                <a:cs typeface="Arial"/>
              </a:rPr>
              <a:t>Walsh D’Souza  ·  Soham Pendse  ·  Vauldan D’Souza  ·  Abdullah Mukadam</a:t>
            </a:r>
          </a:p>
        </p:txBody>
      </p:sp>
      <p:sp>
        <p:nvSpPr>
          <p:cNvPr id="19" name="Divider 15">
            <a:extLst xmlns:a="http://schemas.openxmlformats.org/drawingml/2006/main">
              <a:ext uri="{FF2B5EF4-FFF2-40B4-BE49-F238E27FC236}">
                <a16:creationId xmlns:a16="http://schemas.microsoft.com/office/drawing/2014/main" id="{27A0F160-6B76-475B-A883-BA2840C20E16}"/>
              </a:ext>
            </a:extLst>
          </p:cNvPr>
          <p:cNvSpPr>
            <a:spLocks xmlns:a="http://schemas.openxmlformats.org/drawingml/2006/main" noGrp="1"/>
          </p:cNvSpPr>
          <p:nvPr/>
        </p:nvSpPr>
        <p:spPr>
          <a:xfrm xmlns:a="http://schemas.openxmlformats.org/drawingml/2006/main">
            <a:off x="2066925" y="4467225"/>
            <a:ext cx="8058150" cy="0"/>
          </a:xfrm>
          <a:prstGeom xmlns:a="http://schemas.openxmlformats.org/drawingml/2006/main" prst="line">
            <a:avLst/>
          </a:prstGeom>
          <a:noFill xmlns:a="http://schemas.openxmlformats.org/drawingml/2006/main"/>
          <a:ln xmlns:a="http://schemas.openxmlformats.org/drawingml/2006/main" w="9525">
            <a:solidFill>
              <a:srgbClr val="FFFFFF">
                <a:alpha val="9000"/>
              </a:srgbClr>
            </a:solidFill>
          </a:ln>
        </p:spPr>
      </p:sp>
      <p:sp>
        <p:nvSpPr>
          <p:cNvPr id="20" name="SELECTED TRACK 16">
            <a:extLst xmlns:a="http://schemas.openxmlformats.org/drawingml/2006/main">
              <a:ext uri="{FF2B5EF4-FFF2-40B4-BE49-F238E27FC236}">
                <a16:creationId xmlns:a16="http://schemas.microsoft.com/office/drawing/2014/main" id="{58928A99-A807-4D7C-8637-3E40675E9628}"/>
              </a:ext>
            </a:extLst>
          </p:cNvPr>
          <p:cNvSpPr>
            <a:spLocks xmlns:a="http://schemas.openxmlformats.org/drawingml/2006/main" noGrp="1"/>
          </p:cNvSpPr>
          <p:nvPr/>
        </p:nvSpPr>
        <p:spPr>
          <a:xfrm xmlns:a="http://schemas.openxmlformats.org/drawingml/2006/main">
            <a:off x="2066925" y="4600575"/>
            <a:ext cx="1600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40DDFF"/>
                </a:solidFill>
                <a:latin typeface="Arial"/>
                <a:ea typeface="Arial"/>
                <a:cs typeface="Arial"/>
              </a:defRPr>
            </a:pPr>
            <a:r>
              <a:rPr sz="1050" b="1">
                <a:solidFill>
                  <a:srgbClr val="40DDFF"/>
                </a:solidFill>
                <a:latin typeface="Arial"/>
                <a:ea typeface="Arial"/>
                <a:cs typeface="Arial"/>
              </a:rPr>
              <a:t>SELECTED TRACK</a:t>
            </a:r>
          </a:p>
        </p:txBody>
      </p:sp>
      <p:sp>
        <p:nvSpPr>
          <p:cNvPr id="21" name="Agentic AI For Good / Accessibility 17">
            <a:extLst xmlns:a="http://schemas.openxmlformats.org/drawingml/2006/main">
              <a:ext uri="{FF2B5EF4-FFF2-40B4-BE49-F238E27FC236}">
                <a16:creationId xmlns:a16="http://schemas.microsoft.com/office/drawing/2014/main" id="{0D95E40E-EFF7-4BC2-972B-813FF788505A}"/>
              </a:ext>
            </a:extLst>
          </p:cNvPr>
          <p:cNvSpPr>
            <a:spLocks xmlns:a="http://schemas.openxmlformats.org/drawingml/2006/main" noGrp="1"/>
          </p:cNvSpPr>
          <p:nvPr/>
        </p:nvSpPr>
        <p:spPr>
          <a:xfrm xmlns:a="http://schemas.openxmlformats.org/drawingml/2006/main">
            <a:off x="3838575" y="4562475"/>
            <a:ext cx="6248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40DDFF"/>
                </a:solidFill>
                <a:latin typeface="Arial"/>
                <a:ea typeface="Arial"/>
                <a:cs typeface="Arial"/>
              </a:defRPr>
            </a:pPr>
            <a:r>
              <a:rPr sz="1500" b="0">
                <a:solidFill>
                  <a:srgbClr val="40DDFF"/>
                </a:solidFill>
                <a:latin typeface="Arial"/>
                <a:ea typeface="Arial"/>
                <a:cs typeface="Arial"/>
              </a:rPr>
              <a:t>Agentic AI For Good / Accessibility</a:t>
            </a:r>
          </a:p>
        </p:txBody>
      </p:sp>
      <p:sp>
        <p:nvSpPr>
          <p:cNvPr id="22" name="Panel 18">
            <a:extLst xmlns:a="http://schemas.openxmlformats.org/drawingml/2006/main">
              <a:ext uri="{FF2B5EF4-FFF2-40B4-BE49-F238E27FC236}">
                <a16:creationId xmlns:a16="http://schemas.microsoft.com/office/drawing/2014/main" id="{9478EEC0-F6FD-43E3-B64D-93DD801F6B0E}"/>
              </a:ext>
            </a:extLst>
          </p:cNvPr>
          <p:cNvSpPr>
            <a:spLocks xmlns:a="http://schemas.openxmlformats.org/drawingml/2006/main" noGrp="1"/>
          </p:cNvSpPr>
          <p:nvPr/>
        </p:nvSpPr>
        <p:spPr>
          <a:xfrm xmlns:a="http://schemas.openxmlformats.org/drawingml/2006/main">
            <a:off x="1809750" y="5238750"/>
            <a:ext cx="8572500" cy="762000"/>
          </a:xfrm>
          <a:prstGeom xmlns:a="http://schemas.openxmlformats.org/drawingml/2006/main" prst="roundRect">
            <a:avLst>
              <a:gd name="adj" fmla="val 17500"/>
            </a:avLst>
          </a:prstGeom>
          <a:solidFill xmlns:a="http://schemas.openxmlformats.org/drawingml/2006/main">
            <a:srgbClr val="49D6FF">
              <a:alpha val="5000"/>
            </a:srgbClr>
          </a:solidFill>
          <a:ln xmlns:a="http://schemas.openxmlformats.org/drawingml/2006/main" w="6668">
            <a:solidFill>
              <a:srgbClr val="465175"/>
            </a:solidFill>
          </a:ln>
        </p:spPr>
      </p:sp>
      <p:sp>
        <p:nvSpPr>
          <p:cNvPr id="23" name="Turning English speech and captions into e 19">
            <a:extLst xmlns:a="http://schemas.openxmlformats.org/drawingml/2006/main">
              <a:ext uri="{FF2B5EF4-FFF2-40B4-BE49-F238E27FC236}">
                <a16:creationId xmlns:a16="http://schemas.microsoft.com/office/drawing/2014/main" id="{323E2249-B387-467E-9A8A-C1C943956930}"/>
              </a:ext>
            </a:extLst>
          </p:cNvPr>
          <p:cNvSpPr>
            <a:spLocks xmlns:a="http://schemas.openxmlformats.org/drawingml/2006/main" noGrp="1"/>
          </p:cNvSpPr>
          <p:nvPr/>
        </p:nvSpPr>
        <p:spPr>
          <a:xfrm xmlns:a="http://schemas.openxmlformats.org/drawingml/2006/main">
            <a:off x="2066925" y="5400675"/>
            <a:ext cx="8058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0">
                <a:solidFill>
                  <a:srgbClr val="E8EEFD"/>
                </a:solidFill>
                <a:latin typeface="Arial"/>
                <a:ea typeface="Arial"/>
                <a:cs typeface="Arial"/>
              </a:defRPr>
            </a:pPr>
            <a:r>
              <a:rPr sz="1650" b="0">
                <a:solidFill>
                  <a:srgbClr val="E8EEFD"/>
                </a:solidFill>
                <a:latin typeface="Arial"/>
                <a:ea typeface="Arial"/>
                <a:cs typeface="Arial"/>
              </a:rPr>
              <a:t>Turning English speech and captions into expressive 3D ASL playback</a:t>
            </a:r>
          </a:p>
        </p:txBody>
      </p:sp>
      <p:sp>
        <p:nvSpPr>
          <p:cNvPr id="24" name="with contextual facial and head cues 20">
            <a:extLst xmlns:a="http://schemas.openxmlformats.org/drawingml/2006/main">
              <a:ext uri="{FF2B5EF4-FFF2-40B4-BE49-F238E27FC236}">
                <a16:creationId xmlns:a16="http://schemas.microsoft.com/office/drawing/2014/main" id="{E02CEF6A-F90A-4F50-9CCD-67F7C8DE319C}"/>
              </a:ext>
            </a:extLst>
          </p:cNvPr>
          <p:cNvSpPr>
            <a:spLocks xmlns:a="http://schemas.openxmlformats.org/drawingml/2006/main" noGrp="1"/>
          </p:cNvSpPr>
          <p:nvPr/>
        </p:nvSpPr>
        <p:spPr>
          <a:xfrm xmlns:a="http://schemas.openxmlformats.org/drawingml/2006/main">
            <a:off x="2066925" y="5705475"/>
            <a:ext cx="805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0">
                <a:solidFill>
                  <a:srgbClr val="A7B5D4"/>
                </a:solidFill>
                <a:latin typeface="Arial"/>
                <a:ea typeface="Arial"/>
                <a:cs typeface="Arial"/>
              </a:defRPr>
            </a:pPr>
            <a:r>
              <a:rPr sz="1350" b="0">
                <a:solidFill>
                  <a:srgbClr val="A7B5D4"/>
                </a:solidFill>
                <a:latin typeface="Arial"/>
                <a:ea typeface="Arial"/>
                <a:cs typeface="Arial"/>
              </a:rPr>
              <a:t>with contextual facial and head cues</a:t>
            </a:r>
          </a:p>
        </p:txBody>
      </p:sp>
    </p:spTree>
    <p:extLst>
      <p:ext uri="{BB962C8B-B14F-4D97-AF65-F5344CB8AC3E}">
        <p14:creationId xmlns:p14="http://schemas.microsoft.com/office/powerpoint/2010/main" val="1715941496"/>
      </p:ext>
    </p:extLst>
  </p:cSld>
</p:sld>
</file>

<file path=ppt/slides/slide2.xml><?xml version="1.0" encoding="utf-8"?>
<p:sld xmlns:p="http://schemas.openxmlformats.org/presentationml/2006/main">
  <p:cSld>
    <p:bg>
      <p:bgPr>
        <a:solidFill xmlns:a="http://schemas.openxmlformats.org/drawingml/2006/main">
          <a:srgbClr val="04050D"/>
        </a:solidFill>
      </p:bgPr>
    </p:bg>
    <p:spTree>
      <p:nvGrpSpPr>
        <p:cNvPr id="1" name=""/>
        <p:cNvGrpSpPr/>
        <p:nvPr/>
      </p:nvGrpSpPr>
      <p:grpSpPr>
        <a:xfrm xmlns:a="http://schemas.openxmlformats.org/drawingml/2006/main"/>
      </p:grpSpPr>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9c7fe7f75ebb4024"/>
          <a:stretch xmlns:a="http://schemas.openxmlformats.org/drawingml/2006/main"/>
        </p:blipFill>
        <p:spPr>
          <a:xfrm xmlns:a="http://schemas.openxmlformats.org/drawingml/2006/main">
            <a:off x="0" y="823"/>
            <a:ext cx="5734050" cy="5351405"/>
          </a:xfrm>
          <a:prstGeom xmlns:a="http://schemas.openxmlformats.org/drawingml/2006/main" prst="rect">
            <a:avLst/>
          </a:prstGeom>
        </p:spPr>
      </p:pic>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f058c16f9a0e46e1"/>
          <a:stretch xmlns:a="http://schemas.openxmlformats.org/drawingml/2006/main"/>
        </p:blipFill>
        <p:spPr>
          <a:xfrm xmlns:a="http://schemas.openxmlformats.org/drawingml/2006/main">
            <a:off x="6279271" y="1514475"/>
            <a:ext cx="5910433" cy="5343525"/>
          </a:xfrm>
          <a:prstGeom xmlns:a="http://schemas.openxmlformats.org/drawingml/2006/main" prst="rect">
            <a:avLst/>
          </a:prstGeom>
        </p:spPr>
      </p:pic>
      <p:sp>
        <p:nvSpPr>
          <p:cNvPr id="3" name="Background tint 21">
            <a:extLst xmlns:a="http://schemas.openxmlformats.org/drawingml/2006/main">
              <a:ext uri="{FF2B5EF4-FFF2-40B4-BE49-F238E27FC236}">
                <a16:creationId xmlns:a16="http://schemas.microsoft.com/office/drawing/2014/main" id="{72C7BF7D-02C4-42EC-B4B0-AF9EC9F3784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oundRect">
            <a:avLst>
              <a:gd name="adj" fmla="val 0"/>
            </a:avLst>
          </a:prstGeom>
          <a:solidFill xmlns:a="http://schemas.openxmlformats.org/drawingml/2006/main">
            <a:srgbClr val="04050D">
              <a:alpha val="60000"/>
            </a:srgbClr>
          </a:solidFill>
          <a:ln xmlns:a="http://schemas.openxmlformats.org/drawingml/2006/main" w="0">
            <a:noFill/>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8ca9455aef7a4f0f"/>
          <a:srcRect xmlns:a="http://schemas.openxmlformats.org/drawingml/2006/main" l="22705" t="0" r="22705" b="0"/>
          <a:stretch xmlns:a="http://schemas.openxmlformats.org/drawingml/2006/main">
            <a:fillRect l="0" t="0" r="0" b="0"/>
          </a:stretch>
        </p:blipFill>
        <p:spPr>
          <a:xfrm xmlns:a="http://schemas.openxmlformats.org/drawingml/2006/main">
            <a:off x="514350" y="209550"/>
            <a:ext cx="333375" cy="333375"/>
          </a:xfrm>
          <a:prstGeom xmlns:a="http://schemas.openxmlformats.org/drawingml/2006/main" prst="ellipse">
            <a:avLst/>
          </a:prstGeom>
        </p:spPr>
      </p:pic>
      <p:sp>
        <p:nvSpPr>
          <p:cNvPr id="5" name="U N M U T E 22">
            <a:extLst xmlns:a="http://schemas.openxmlformats.org/drawingml/2006/main">
              <a:ext uri="{FF2B5EF4-FFF2-40B4-BE49-F238E27FC236}">
                <a16:creationId xmlns:a16="http://schemas.microsoft.com/office/drawing/2014/main" id="{17AF4A54-E839-4EE2-A26A-6FD9CD28D792}"/>
              </a:ext>
            </a:extLst>
          </p:cNvPr>
          <p:cNvSpPr>
            <a:spLocks xmlns:a="http://schemas.openxmlformats.org/drawingml/2006/main" noGrp="1"/>
          </p:cNvSpPr>
          <p:nvPr/>
        </p:nvSpPr>
        <p:spPr>
          <a:xfrm xmlns:a="http://schemas.openxmlformats.org/drawingml/2006/main">
            <a:off x="962025" y="2857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40DDFF"/>
                </a:solidFill>
                <a:latin typeface="Arial"/>
                <a:ea typeface="Arial"/>
                <a:cs typeface="Arial"/>
              </a:defRPr>
            </a:pPr>
            <a:r>
              <a:rPr sz="1050" b="1">
                <a:solidFill>
                  <a:srgbClr val="40DDFF"/>
                </a:solidFill>
                <a:latin typeface="Arial"/>
                <a:ea typeface="Arial"/>
                <a:cs typeface="Arial"/>
              </a:rPr>
              <a:t>U N M U T E</a:t>
            </a:r>
          </a:p>
        </p:txBody>
      </p:sp>
      <p:sp>
        <p:nvSpPr>
          <p:cNvPr id="6" name="02 / 06 23">
            <a:extLst xmlns:a="http://schemas.openxmlformats.org/drawingml/2006/main">
              <a:ext uri="{FF2B5EF4-FFF2-40B4-BE49-F238E27FC236}">
                <a16:creationId xmlns:a16="http://schemas.microsoft.com/office/drawing/2014/main" id="{3DC600C2-ABC8-4E32-A863-31A80F59DD05}"/>
              </a:ext>
            </a:extLst>
          </p:cNvPr>
          <p:cNvSpPr>
            <a:spLocks xmlns:a="http://schemas.openxmlformats.org/drawingml/2006/main" noGrp="1"/>
          </p:cNvSpPr>
          <p:nvPr/>
        </p:nvSpPr>
        <p:spPr>
          <a:xfrm xmlns:a="http://schemas.openxmlformats.org/drawingml/2006/main">
            <a:off x="10668000" y="295275"/>
            <a:ext cx="1009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1">
                <a:solidFill>
                  <a:srgbClr val="A7B5D4"/>
                </a:solidFill>
                <a:latin typeface="Arial"/>
                <a:ea typeface="Arial"/>
                <a:cs typeface="Arial"/>
              </a:defRPr>
            </a:pPr>
            <a:r>
              <a:rPr sz="975" b="1">
                <a:solidFill>
                  <a:srgbClr val="A7B5D4"/>
                </a:solidFill>
                <a:latin typeface="Arial"/>
                <a:ea typeface="Arial"/>
                <a:cs typeface="Arial"/>
              </a:rPr>
              <a:t>02 / 06</a:t>
            </a:r>
          </a:p>
        </p:txBody>
      </p:sp>
      <p:sp>
        <p:nvSpPr>
          <p:cNvPr id="7" name="Divider 24">
            <a:extLst xmlns:a="http://schemas.openxmlformats.org/drawingml/2006/main">
              <a:ext uri="{FF2B5EF4-FFF2-40B4-BE49-F238E27FC236}">
                <a16:creationId xmlns:a16="http://schemas.microsoft.com/office/drawing/2014/main" id="{AEC32287-BDFC-4B83-A779-9084D1248A40}"/>
              </a:ext>
            </a:extLst>
          </p:cNvPr>
          <p:cNvSpPr>
            <a:spLocks xmlns:a="http://schemas.openxmlformats.org/drawingml/2006/main" noGrp="1"/>
          </p:cNvSpPr>
          <p:nvPr/>
        </p:nvSpPr>
        <p:spPr>
          <a:xfrm xmlns:a="http://schemas.openxmlformats.org/drawingml/2006/main">
            <a:off x="533400" y="762000"/>
            <a:ext cx="438150" cy="0"/>
          </a:xfrm>
          <a:prstGeom xmlns:a="http://schemas.openxmlformats.org/drawingml/2006/main" prst="line">
            <a:avLst/>
          </a:prstGeom>
          <a:noFill xmlns:a="http://schemas.openxmlformats.org/drawingml/2006/main"/>
          <a:ln xmlns:a="http://schemas.openxmlformats.org/drawingml/2006/main" w="9525">
            <a:solidFill>
              <a:srgbClr val="40DDFF"/>
            </a:solidFill>
          </a:ln>
        </p:spPr>
      </p:sp>
      <p:sp>
        <p:nvSpPr>
          <p:cNvPr id="8" name="THE CHALLENGE 25">
            <a:extLst xmlns:a="http://schemas.openxmlformats.org/drawingml/2006/main">
              <a:ext uri="{FF2B5EF4-FFF2-40B4-BE49-F238E27FC236}">
                <a16:creationId xmlns:a16="http://schemas.microsoft.com/office/drawing/2014/main" id="{2F616D43-9760-4D04-AC4E-D41411C2402D}"/>
              </a:ext>
            </a:extLst>
          </p:cNvPr>
          <p:cNvSpPr>
            <a:spLocks xmlns:a="http://schemas.openxmlformats.org/drawingml/2006/main" noGrp="1"/>
          </p:cNvSpPr>
          <p:nvPr/>
        </p:nvSpPr>
        <p:spPr>
          <a:xfrm xmlns:a="http://schemas.openxmlformats.org/drawingml/2006/main">
            <a:off x="1095375" y="66675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A7B5D4"/>
                </a:solidFill>
                <a:latin typeface="Arial"/>
                <a:ea typeface="Arial"/>
                <a:cs typeface="Arial"/>
              </a:defRPr>
            </a:pPr>
            <a:r>
              <a:rPr sz="1050" b="1">
                <a:solidFill>
                  <a:srgbClr val="A7B5D4"/>
                </a:solidFill>
                <a:latin typeface="Arial"/>
                <a:ea typeface="Arial"/>
                <a:cs typeface="Arial"/>
              </a:rPr>
              <a:t>THE CHALLENGE</a:t>
            </a:r>
          </a:p>
        </p:txBody>
      </p:sp>
      <p:sp>
        <p:nvSpPr>
          <p:cNvPr id="9" name="Problem Statement 26">
            <a:extLst xmlns:a="http://schemas.openxmlformats.org/drawingml/2006/main">
              <a:ext uri="{FF2B5EF4-FFF2-40B4-BE49-F238E27FC236}">
                <a16:creationId xmlns:a16="http://schemas.microsoft.com/office/drawing/2014/main" id="{73D56624-4706-4EB0-9752-D101E17A26A6}"/>
              </a:ext>
            </a:extLst>
          </p:cNvPr>
          <p:cNvSpPr>
            <a:spLocks xmlns:a="http://schemas.openxmlformats.org/drawingml/2006/main" noGrp="1"/>
          </p:cNvSpPr>
          <p:nvPr/>
        </p:nvSpPr>
        <p:spPr>
          <a:xfrm xmlns:a="http://schemas.openxmlformats.org/drawingml/2006/main">
            <a:off x="533400" y="971550"/>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E8EEFD"/>
                </a:solidFill>
                <a:latin typeface="Arial"/>
                <a:ea typeface="Arial"/>
                <a:cs typeface="Arial"/>
              </a:defRPr>
            </a:pPr>
            <a:r>
              <a:rPr sz="3150" b="1">
                <a:solidFill>
                  <a:srgbClr val="E8EEFD"/>
                </a:solidFill>
                <a:latin typeface="Arial"/>
                <a:ea typeface="Arial"/>
                <a:cs typeface="Arial"/>
              </a:rPr>
              <a:t>Problem </a:t>
            </a:r>
            <a:r>
              <a:rPr sz="3150" b="1">
                <a:gradFill>
                  <a:gsLst>
                    <a:gs pos="0">
                      <a:srgbClr val="40DDFF"/>
                    </a:gs>
                    <a:gs pos="50000">
                      <a:srgbClr val="9C7CFF"/>
                    </a:gs>
                    <a:gs pos="100000">
                      <a:srgbClr val="E775D2"/>
                    </a:gs>
                  </a:gsLst>
                  <a:lin ang="0"/>
                </a:gradFill>
                <a:latin typeface="Arial"/>
                <a:ea typeface="Arial"/>
                <a:cs typeface="Arial"/>
              </a:rPr>
              <a:t>Statement</a:t>
            </a:r>
          </a:p>
        </p:txBody>
      </p:sp>
      <p:sp>
        <p:nvSpPr>
          <p:cNvPr id="10" name="R A M P A G E   /   B I T  N  B U I L D  2 27">
            <a:extLst xmlns:a="http://schemas.openxmlformats.org/drawingml/2006/main">
              <a:ext uri="{FF2B5EF4-FFF2-40B4-BE49-F238E27FC236}">
                <a16:creationId xmlns:a16="http://schemas.microsoft.com/office/drawing/2014/main" id="{FABDDFCB-7E48-4C7E-BCDE-D8022EA5A44D}"/>
              </a:ext>
            </a:extLst>
          </p:cNvPr>
          <p:cNvSpPr>
            <a:spLocks xmlns:a="http://schemas.openxmlformats.org/drawingml/2006/main" noGrp="1"/>
          </p:cNvSpPr>
          <p:nvPr/>
        </p:nvSpPr>
        <p:spPr>
          <a:xfrm xmlns:a="http://schemas.openxmlformats.org/drawingml/2006/main">
            <a:off x="533400" y="6591300"/>
            <a:ext cx="95250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50" b="0">
                <a:solidFill>
                  <a:srgbClr val="A7B5D4"/>
                </a:solidFill>
                <a:latin typeface="Arial"/>
                <a:ea typeface="Arial"/>
                <a:cs typeface="Arial"/>
              </a:defRPr>
            </a:pPr>
            <a:r>
              <a:rPr sz="750" b="0">
                <a:solidFill>
                  <a:srgbClr val="A7B5D4"/>
                </a:solidFill>
                <a:latin typeface="Arial"/>
                <a:ea typeface="Arial"/>
                <a:cs typeface="Arial"/>
              </a:rPr>
              <a:t>R A M P A G E   /   B I T  N  B U I L D  2 0 2 6</a:t>
            </a:r>
          </a:p>
        </p:txBody>
      </p:sp>
      <p:sp>
        <p:nvSpPr>
          <p:cNvPr id="11" name="Panel 28">
            <a:extLst xmlns:a="http://schemas.openxmlformats.org/drawingml/2006/main">
              <a:ext uri="{FF2B5EF4-FFF2-40B4-BE49-F238E27FC236}">
                <a16:creationId xmlns:a16="http://schemas.microsoft.com/office/drawing/2014/main" id="{63912B98-820B-4CDB-8F6B-5160B2480AC8}"/>
              </a:ext>
            </a:extLst>
          </p:cNvPr>
          <p:cNvSpPr>
            <a:spLocks xmlns:a="http://schemas.openxmlformats.org/drawingml/2006/main" noGrp="1"/>
          </p:cNvSpPr>
          <p:nvPr/>
        </p:nvSpPr>
        <p:spPr>
          <a:xfrm xmlns:a="http://schemas.openxmlformats.org/drawingml/2006/main">
            <a:off x="533400" y="1714500"/>
            <a:ext cx="11125200" cy="1419225"/>
          </a:xfrm>
          <a:prstGeom xmlns:a="http://schemas.openxmlformats.org/drawingml/2006/main" prst="roundRect">
            <a:avLst>
              <a:gd name="adj" fmla="val 12081"/>
            </a:avLst>
          </a:prstGeom>
          <a:solidFill xmlns:a="http://schemas.openxmlformats.org/drawingml/2006/main">
            <a:srgbClr val="FFFFFF">
              <a:alpha val="4000"/>
            </a:srgbClr>
          </a:solidFill>
          <a:ln xmlns:a="http://schemas.openxmlformats.org/drawingml/2006/main" w="6668">
            <a:solidFill>
              <a:srgbClr val="414451"/>
            </a:solidFill>
          </a:ln>
        </p:spPr>
      </p:sp>
      <p:sp>
        <p:nvSpPr>
          <p:cNvPr id="12" name="THE REAL PROBLEM 29">
            <a:extLst xmlns:a="http://schemas.openxmlformats.org/drawingml/2006/main">
              <a:ext uri="{FF2B5EF4-FFF2-40B4-BE49-F238E27FC236}">
                <a16:creationId xmlns:a16="http://schemas.microsoft.com/office/drawing/2014/main" id="{DDB5D901-CDD2-4AA2-A1AA-99FCBF7645CA}"/>
              </a:ext>
            </a:extLst>
          </p:cNvPr>
          <p:cNvSpPr>
            <a:spLocks xmlns:a="http://schemas.openxmlformats.org/drawingml/2006/main" noGrp="1"/>
          </p:cNvSpPr>
          <p:nvPr/>
        </p:nvSpPr>
        <p:spPr>
          <a:xfrm xmlns:a="http://schemas.openxmlformats.org/drawingml/2006/main">
            <a:off x="762000" y="1914525"/>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40DDFF"/>
                </a:solidFill>
                <a:latin typeface="Arial"/>
                <a:ea typeface="Arial"/>
                <a:cs typeface="Arial"/>
              </a:defRPr>
            </a:pPr>
            <a:r>
              <a:rPr sz="1050" b="1">
                <a:solidFill>
                  <a:srgbClr val="40DDFF"/>
                </a:solidFill>
                <a:latin typeface="Arial"/>
                <a:ea typeface="Arial"/>
                <a:cs typeface="Arial"/>
              </a:rPr>
              <a:t>THE REAL PROBLEM</a:t>
            </a:r>
          </a:p>
        </p:txBody>
      </p:sp>
      <p:sp>
        <p:nvSpPr>
          <p:cNvPr id="13" name="Signed communication uses facial expressio 30">
            <a:extLst xmlns:a="http://schemas.openxmlformats.org/drawingml/2006/main">
              <a:ext uri="{FF2B5EF4-FFF2-40B4-BE49-F238E27FC236}">
                <a16:creationId xmlns:a16="http://schemas.microsoft.com/office/drawing/2014/main" id="{B3F58EC4-0606-43E4-BFC6-14F354578896}"/>
              </a:ext>
            </a:extLst>
          </p:cNvPr>
          <p:cNvSpPr>
            <a:spLocks xmlns:a="http://schemas.openxmlformats.org/drawingml/2006/main" noGrp="1"/>
          </p:cNvSpPr>
          <p:nvPr/>
        </p:nvSpPr>
        <p:spPr>
          <a:xfrm xmlns:a="http://schemas.openxmlformats.org/drawingml/2006/main">
            <a:off x="762000" y="2266950"/>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E8EEFD"/>
                </a:solidFill>
                <a:latin typeface="Arial"/>
                <a:ea typeface="Arial"/>
                <a:cs typeface="Arial"/>
              </a:defRPr>
            </a:pPr>
            <a:r>
              <a:rPr sz="1800" b="0">
                <a:solidFill>
                  <a:srgbClr val="E8EEFD"/>
                </a:solidFill>
                <a:latin typeface="Arial"/>
                <a:ea typeface="Arial"/>
                <a:cs typeface="Arial"/>
              </a:rPr>
              <a:t>Signed communication uses facial expression, head movement, and spatial structure alongside hand gestures. UNMUTE explores how these cues can accompany captions in media and meetings.</a:t>
            </a:r>
          </a:p>
        </p:txBody>
      </p:sp>
      <p:sp>
        <p:nvSpPr>
          <p:cNvPr id="14" name="Panel 31">
            <a:extLst xmlns:a="http://schemas.openxmlformats.org/drawingml/2006/main">
              <a:ext uri="{FF2B5EF4-FFF2-40B4-BE49-F238E27FC236}">
                <a16:creationId xmlns:a16="http://schemas.microsoft.com/office/drawing/2014/main" id="{1E9EFBC1-39C1-4AEC-A3CA-3B3FF51D3C33}"/>
              </a:ext>
            </a:extLst>
          </p:cNvPr>
          <p:cNvSpPr>
            <a:spLocks xmlns:a="http://schemas.openxmlformats.org/drawingml/2006/main" noGrp="1"/>
          </p:cNvSpPr>
          <p:nvPr/>
        </p:nvSpPr>
        <p:spPr>
          <a:xfrm xmlns:a="http://schemas.openxmlformats.org/drawingml/2006/main">
            <a:off x="533400" y="3362325"/>
            <a:ext cx="3581400" cy="3000375"/>
          </a:xfrm>
          <a:prstGeom xmlns:a="http://schemas.openxmlformats.org/drawingml/2006/main" prst="roundRect">
            <a:avLst>
              <a:gd name="adj" fmla="val 5714"/>
            </a:avLst>
          </a:prstGeom>
          <a:solidFill xmlns:a="http://schemas.openxmlformats.org/drawingml/2006/main">
            <a:srgbClr val="FFFFFF">
              <a:alpha val="4000"/>
            </a:srgbClr>
          </a:solidFill>
          <a:ln xmlns:a="http://schemas.openxmlformats.org/drawingml/2006/main" w="6668">
            <a:solidFill>
              <a:srgbClr val="414451"/>
            </a:solidFill>
          </a:ln>
        </p:spPr>
      </p:sp>
      <p:sp>
        <p:nvSpPr>
          <p:cNvPr id="15" name="WHO IS AFFECTED 32">
            <a:extLst xmlns:a="http://schemas.openxmlformats.org/drawingml/2006/main">
              <a:ext uri="{FF2B5EF4-FFF2-40B4-BE49-F238E27FC236}">
                <a16:creationId xmlns:a16="http://schemas.microsoft.com/office/drawing/2014/main" id="{D1A79035-9FF5-444D-9BFA-1DA310071A8C}"/>
              </a:ext>
            </a:extLst>
          </p:cNvPr>
          <p:cNvSpPr>
            <a:spLocks xmlns:a="http://schemas.openxmlformats.org/drawingml/2006/main" noGrp="1"/>
          </p:cNvSpPr>
          <p:nvPr/>
        </p:nvSpPr>
        <p:spPr>
          <a:xfrm xmlns:a="http://schemas.openxmlformats.org/drawingml/2006/main">
            <a:off x="762000" y="3562350"/>
            <a:ext cx="3124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40DDFF"/>
                </a:solidFill>
                <a:latin typeface="Arial"/>
                <a:ea typeface="Arial"/>
                <a:cs typeface="Arial"/>
              </a:defRPr>
            </a:pPr>
            <a:r>
              <a:rPr sz="1050" b="1">
                <a:solidFill>
                  <a:srgbClr val="40DDFF"/>
                </a:solidFill>
                <a:latin typeface="Arial"/>
                <a:ea typeface="Arial"/>
                <a:cs typeface="Arial"/>
              </a:rPr>
              <a:t>WHO IS AFFECTED</a:t>
            </a:r>
          </a:p>
        </p:txBody>
      </p:sp>
      <p:sp>
        <p:nvSpPr>
          <p:cNvPr id="16" name="Deaf and hard-of-hearing students and prof 33">
            <a:extLst xmlns:a="http://schemas.openxmlformats.org/drawingml/2006/main">
              <a:ext uri="{FF2B5EF4-FFF2-40B4-BE49-F238E27FC236}">
                <a16:creationId xmlns:a16="http://schemas.microsoft.com/office/drawing/2014/main" id="{04E1ED98-17D1-450F-97CF-C59CBF05F7E5}"/>
              </a:ext>
            </a:extLst>
          </p:cNvPr>
          <p:cNvSpPr>
            <a:spLocks xmlns:a="http://schemas.openxmlformats.org/drawingml/2006/main" noGrp="1"/>
          </p:cNvSpPr>
          <p:nvPr/>
        </p:nvSpPr>
        <p:spPr>
          <a:xfrm xmlns:a="http://schemas.openxmlformats.org/drawingml/2006/main">
            <a:off x="762000" y="3914775"/>
            <a:ext cx="3124200" cy="2276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E8EEFD"/>
                </a:solidFill>
                <a:latin typeface="Arial"/>
                <a:ea typeface="Arial"/>
                <a:cs typeface="Arial"/>
              </a:defRPr>
            </a:pPr>
            <a:r>
              <a:rPr sz="1725" b="0">
                <a:solidFill>
                  <a:srgbClr val="E8EEFD"/>
                </a:solidFill>
                <a:latin typeface="Arial"/>
                <a:ea typeface="Arial"/>
                <a:cs typeface="Arial"/>
              </a:rPr>
              <a:t>Deaf and hard-of-hearing students and professionals who prefer signed communication alongside captions.</a:t>
            </a:r>
          </a:p>
        </p:txBody>
      </p:sp>
      <p:sp>
        <p:nvSpPr>
          <p:cNvPr id="17" name="Panel 34">
            <a:extLst xmlns:a="http://schemas.openxmlformats.org/drawingml/2006/main">
              <a:ext uri="{FF2B5EF4-FFF2-40B4-BE49-F238E27FC236}">
                <a16:creationId xmlns:a16="http://schemas.microsoft.com/office/drawing/2014/main" id="{8F13ADA6-8849-474A-8AA7-F0438FDD8553}"/>
              </a:ext>
            </a:extLst>
          </p:cNvPr>
          <p:cNvSpPr>
            <a:spLocks xmlns:a="http://schemas.openxmlformats.org/drawingml/2006/main" noGrp="1"/>
          </p:cNvSpPr>
          <p:nvPr/>
        </p:nvSpPr>
        <p:spPr>
          <a:xfrm xmlns:a="http://schemas.openxmlformats.org/drawingml/2006/main">
            <a:off x="4305300" y="3362325"/>
            <a:ext cx="3581400" cy="3000375"/>
          </a:xfrm>
          <a:prstGeom xmlns:a="http://schemas.openxmlformats.org/drawingml/2006/main" prst="roundRect">
            <a:avLst>
              <a:gd name="adj" fmla="val 5714"/>
            </a:avLst>
          </a:prstGeom>
          <a:solidFill xmlns:a="http://schemas.openxmlformats.org/drawingml/2006/main">
            <a:srgbClr val="FFFFFF">
              <a:alpha val="4000"/>
            </a:srgbClr>
          </a:solidFill>
          <a:ln xmlns:a="http://schemas.openxmlformats.org/drawingml/2006/main" w="6668">
            <a:solidFill>
              <a:srgbClr val="414451"/>
            </a:solidFill>
          </a:ln>
        </p:spPr>
      </p:sp>
      <p:sp>
        <p:nvSpPr>
          <p:cNvPr id="18" name="WHY IT MATTERS 35">
            <a:extLst xmlns:a="http://schemas.openxmlformats.org/drawingml/2006/main">
              <a:ext uri="{FF2B5EF4-FFF2-40B4-BE49-F238E27FC236}">
                <a16:creationId xmlns:a16="http://schemas.microsoft.com/office/drawing/2014/main" id="{D53C3841-386B-4B5C-838C-9A3E6D9694A3}"/>
              </a:ext>
            </a:extLst>
          </p:cNvPr>
          <p:cNvSpPr>
            <a:spLocks xmlns:a="http://schemas.openxmlformats.org/drawingml/2006/main" noGrp="1"/>
          </p:cNvSpPr>
          <p:nvPr/>
        </p:nvSpPr>
        <p:spPr>
          <a:xfrm xmlns:a="http://schemas.openxmlformats.org/drawingml/2006/main">
            <a:off x="4533900" y="3562350"/>
            <a:ext cx="3124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40DDFF"/>
                </a:solidFill>
                <a:latin typeface="Arial"/>
                <a:ea typeface="Arial"/>
                <a:cs typeface="Arial"/>
              </a:defRPr>
            </a:pPr>
            <a:r>
              <a:rPr sz="1050" b="1">
                <a:solidFill>
                  <a:srgbClr val="40DDFF"/>
                </a:solidFill>
                <a:latin typeface="Arial"/>
                <a:ea typeface="Arial"/>
                <a:cs typeface="Arial"/>
              </a:rPr>
              <a:t>WHY IT MATTERS</a:t>
            </a:r>
          </a:p>
        </p:txBody>
      </p:sp>
      <p:sp>
        <p:nvSpPr>
          <p:cNvPr id="19" name="Text captions and signed languages express 36">
            <a:extLst xmlns:a="http://schemas.openxmlformats.org/drawingml/2006/main">
              <a:ext uri="{FF2B5EF4-FFF2-40B4-BE49-F238E27FC236}">
                <a16:creationId xmlns:a16="http://schemas.microsoft.com/office/drawing/2014/main" id="{54655653-D8C5-4C20-91AC-1CBBEAFC3CD8}"/>
              </a:ext>
            </a:extLst>
          </p:cNvPr>
          <p:cNvSpPr>
            <a:spLocks xmlns:a="http://schemas.openxmlformats.org/drawingml/2006/main" noGrp="1"/>
          </p:cNvSpPr>
          <p:nvPr/>
        </p:nvSpPr>
        <p:spPr>
          <a:xfrm xmlns:a="http://schemas.openxmlformats.org/drawingml/2006/main">
            <a:off x="4533900" y="3914775"/>
            <a:ext cx="3124200" cy="2276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E8EEFD"/>
                </a:solidFill>
                <a:latin typeface="Arial"/>
                <a:ea typeface="Arial"/>
                <a:cs typeface="Arial"/>
              </a:defRPr>
            </a:pPr>
            <a:r>
              <a:rPr sz="1725" b="0">
                <a:solidFill>
                  <a:srgbClr val="E8EEFD"/>
                </a:solidFill>
                <a:latin typeface="Arial"/>
                <a:ea typeface="Arial"/>
                <a:cs typeface="Arial"/>
              </a:rPr>
              <a:t>Text captions and signed languages express information differently. Presenting both can offer another way to follow spoken content.</a:t>
            </a:r>
          </a:p>
        </p:txBody>
      </p:sp>
      <p:sp>
        <p:nvSpPr>
          <p:cNvPr id="20" name="Panel 37">
            <a:extLst xmlns:a="http://schemas.openxmlformats.org/drawingml/2006/main">
              <a:ext uri="{FF2B5EF4-FFF2-40B4-BE49-F238E27FC236}">
                <a16:creationId xmlns:a16="http://schemas.microsoft.com/office/drawing/2014/main" id="{C13E6CC6-C912-4F08-A0A0-06F911B40431}"/>
              </a:ext>
            </a:extLst>
          </p:cNvPr>
          <p:cNvSpPr>
            <a:spLocks xmlns:a="http://schemas.openxmlformats.org/drawingml/2006/main" noGrp="1"/>
          </p:cNvSpPr>
          <p:nvPr/>
        </p:nvSpPr>
        <p:spPr>
          <a:xfrm xmlns:a="http://schemas.openxmlformats.org/drawingml/2006/main">
            <a:off x="8077200" y="3362325"/>
            <a:ext cx="3581400" cy="3000375"/>
          </a:xfrm>
          <a:prstGeom xmlns:a="http://schemas.openxmlformats.org/drawingml/2006/main" prst="roundRect">
            <a:avLst>
              <a:gd name="adj" fmla="val 5714"/>
            </a:avLst>
          </a:prstGeom>
          <a:solidFill xmlns:a="http://schemas.openxmlformats.org/drawingml/2006/main">
            <a:srgbClr val="FFFFFF">
              <a:alpha val="4000"/>
            </a:srgbClr>
          </a:solidFill>
          <a:ln xmlns:a="http://schemas.openxmlformats.org/drawingml/2006/main" w="6668">
            <a:solidFill>
              <a:srgbClr val="414451"/>
            </a:solidFill>
          </a:ln>
        </p:spPr>
      </p:sp>
      <p:sp>
        <p:nvSpPr>
          <p:cNvPr id="21" name="DESIGN GOAL 38">
            <a:extLst xmlns:a="http://schemas.openxmlformats.org/drawingml/2006/main">
              <a:ext uri="{FF2B5EF4-FFF2-40B4-BE49-F238E27FC236}">
                <a16:creationId xmlns:a16="http://schemas.microsoft.com/office/drawing/2014/main" id="{E17C7D6F-81A7-4BA5-9DB2-F9AECA27DC0B}"/>
              </a:ext>
            </a:extLst>
          </p:cNvPr>
          <p:cNvSpPr>
            <a:spLocks xmlns:a="http://schemas.openxmlformats.org/drawingml/2006/main" noGrp="1"/>
          </p:cNvSpPr>
          <p:nvPr/>
        </p:nvSpPr>
        <p:spPr>
          <a:xfrm xmlns:a="http://schemas.openxmlformats.org/drawingml/2006/main">
            <a:off x="8305800" y="3562350"/>
            <a:ext cx="3124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40DDFF"/>
                </a:solidFill>
                <a:latin typeface="Arial"/>
                <a:ea typeface="Arial"/>
                <a:cs typeface="Arial"/>
              </a:defRPr>
            </a:pPr>
            <a:r>
              <a:rPr sz="1050" b="1">
                <a:solidFill>
                  <a:srgbClr val="40DDFF"/>
                </a:solidFill>
                <a:latin typeface="Arial"/>
                <a:ea typeface="Arial"/>
                <a:cs typeface="Arial"/>
              </a:rPr>
              <a:t>DESIGN GOAL</a:t>
            </a:r>
          </a:p>
        </p:txBody>
      </p:sp>
      <p:sp>
        <p:nvSpPr>
          <p:cNvPr id="22" name="Make speech visible through synchronized c 39">
            <a:extLst xmlns:a="http://schemas.openxmlformats.org/drawingml/2006/main">
              <a:ext uri="{FF2B5EF4-FFF2-40B4-BE49-F238E27FC236}">
                <a16:creationId xmlns:a16="http://schemas.microsoft.com/office/drawing/2014/main" id="{054A30D3-89A1-44F3-8D8E-A066E2A8FD82}"/>
              </a:ext>
            </a:extLst>
          </p:cNvPr>
          <p:cNvSpPr>
            <a:spLocks xmlns:a="http://schemas.openxmlformats.org/drawingml/2006/main" noGrp="1"/>
          </p:cNvSpPr>
          <p:nvPr/>
        </p:nvSpPr>
        <p:spPr>
          <a:xfrm xmlns:a="http://schemas.openxmlformats.org/drawingml/2006/main">
            <a:off x="8305800" y="3914775"/>
            <a:ext cx="3124200" cy="2276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E8EEFD"/>
                </a:solidFill>
                <a:latin typeface="Arial"/>
                <a:ea typeface="Arial"/>
                <a:cs typeface="Arial"/>
              </a:defRPr>
            </a:pPr>
            <a:r>
              <a:rPr sz="1725" b="0">
                <a:solidFill>
                  <a:srgbClr val="E8EEFD"/>
                </a:solidFill>
                <a:latin typeface="Arial"/>
                <a:ea typeface="Arial"/>
                <a:cs typeface="Arial"/>
              </a:rPr>
              <a:t>Make speech visible through synchronized captions, hand movements, and contextual non-manual cues.</a:t>
            </a:r>
          </a:p>
        </p:txBody>
      </p:sp>
    </p:spTree>
    <p:extLst>
      <p:ext uri="{BB962C8B-B14F-4D97-AF65-F5344CB8AC3E}">
        <p14:creationId xmlns:p14="http://schemas.microsoft.com/office/powerpoint/2010/main" val="271852389"/>
      </p:ext>
    </p:extLst>
  </p:cSld>
</p:sld>
</file>

<file path=ppt/slides/slide3.xml><?xml version="1.0" encoding="utf-8"?>
<p:sld xmlns:p="http://schemas.openxmlformats.org/presentationml/2006/main">
  <p:cSld>
    <p:bg>
      <p:bgPr>
        <a:solidFill xmlns:a="http://schemas.openxmlformats.org/drawingml/2006/main">
          <a:srgbClr val="04050D"/>
        </a:solidFill>
      </p:bgPr>
    </p:bg>
    <p:spTree>
      <p:nvGrpSpPr>
        <p:cNvPr id="1" name=""/>
        <p:cNvGrpSpPr/>
        <p:nvPr/>
      </p:nvGrpSpPr>
      <p:grpSpPr>
        <a:xfrm xmlns:a="http://schemas.openxmlformats.org/drawingml/2006/main"/>
      </p:grpSpPr>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de99570b10c245b4"/>
          <a:stretch xmlns:a="http://schemas.openxmlformats.org/drawingml/2006/main"/>
        </p:blipFill>
        <p:spPr>
          <a:xfrm xmlns:a="http://schemas.openxmlformats.org/drawingml/2006/main">
            <a:off x="0" y="823"/>
            <a:ext cx="5734050" cy="5351405"/>
          </a:xfrm>
          <a:prstGeom xmlns:a="http://schemas.openxmlformats.org/drawingml/2006/main" prst="rect">
            <a:avLst/>
          </a:prstGeom>
        </p:spPr>
      </p:pic>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b478b64045d34dbc"/>
          <a:stretch xmlns:a="http://schemas.openxmlformats.org/drawingml/2006/main"/>
        </p:blipFill>
        <p:spPr>
          <a:xfrm xmlns:a="http://schemas.openxmlformats.org/drawingml/2006/main">
            <a:off x="6279271" y="1514475"/>
            <a:ext cx="5910433" cy="5343525"/>
          </a:xfrm>
          <a:prstGeom xmlns:a="http://schemas.openxmlformats.org/drawingml/2006/main" prst="rect">
            <a:avLst/>
          </a:prstGeom>
        </p:spPr>
      </p:pic>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6cac2f76cdcc4450"/>
          <a:stretch xmlns:a="http://schemas.openxmlformats.org/drawingml/2006/main"/>
        </p:blipFill>
        <p:spPr>
          <a:xfrm xmlns:a="http://schemas.openxmlformats.org/drawingml/2006/main">
            <a:off x="5135170" y="0"/>
            <a:ext cx="7055635" cy="5819775"/>
          </a:xfrm>
          <a:prstGeom xmlns:a="http://schemas.openxmlformats.org/drawingml/2006/main" prst="rect">
            <a:avLst/>
          </a:prstGeom>
        </p:spPr>
      </p:pic>
      <p:sp>
        <p:nvSpPr>
          <p:cNvPr id="4" name="Background tint 40">
            <a:extLst xmlns:a="http://schemas.openxmlformats.org/drawingml/2006/main">
              <a:ext uri="{FF2B5EF4-FFF2-40B4-BE49-F238E27FC236}">
                <a16:creationId xmlns:a16="http://schemas.microsoft.com/office/drawing/2014/main" id="{253D9665-F48D-4AF8-96AF-C168DEB528D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oundRect">
            <a:avLst>
              <a:gd name="adj" fmla="val 0"/>
            </a:avLst>
          </a:prstGeom>
          <a:solidFill xmlns:a="http://schemas.openxmlformats.org/drawingml/2006/main">
            <a:srgbClr val="04050D">
              <a:alpha val="60000"/>
            </a:srgbClr>
          </a:solidFill>
          <a:ln xmlns:a="http://schemas.openxmlformats.org/drawingml/2006/main" w="0">
            <a:noFill/>
          </a:ln>
        </p:spPr>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ca94d2ce045d4dce"/>
          <a:srcRect xmlns:a="http://schemas.openxmlformats.org/drawingml/2006/main" l="22705" t="0" r="22705" b="0"/>
          <a:stretch xmlns:a="http://schemas.openxmlformats.org/drawingml/2006/main">
            <a:fillRect l="0" t="0" r="0" b="0"/>
          </a:stretch>
        </p:blipFill>
        <p:spPr>
          <a:xfrm xmlns:a="http://schemas.openxmlformats.org/drawingml/2006/main">
            <a:off x="514350" y="209550"/>
            <a:ext cx="333375" cy="333375"/>
          </a:xfrm>
          <a:prstGeom xmlns:a="http://schemas.openxmlformats.org/drawingml/2006/main" prst="ellipse">
            <a:avLst/>
          </a:prstGeom>
        </p:spPr>
      </p:pic>
      <p:sp>
        <p:nvSpPr>
          <p:cNvPr id="6" name="U N M U T E 41">
            <a:extLst xmlns:a="http://schemas.openxmlformats.org/drawingml/2006/main">
              <a:ext uri="{FF2B5EF4-FFF2-40B4-BE49-F238E27FC236}">
                <a16:creationId xmlns:a16="http://schemas.microsoft.com/office/drawing/2014/main" id="{D211C44F-414D-466E-B092-D219F49070EF}"/>
              </a:ext>
            </a:extLst>
          </p:cNvPr>
          <p:cNvSpPr>
            <a:spLocks xmlns:a="http://schemas.openxmlformats.org/drawingml/2006/main" noGrp="1"/>
          </p:cNvSpPr>
          <p:nvPr/>
        </p:nvSpPr>
        <p:spPr>
          <a:xfrm xmlns:a="http://schemas.openxmlformats.org/drawingml/2006/main">
            <a:off x="962025" y="2857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40DDFF"/>
                </a:solidFill>
                <a:latin typeface="Arial"/>
                <a:ea typeface="Arial"/>
                <a:cs typeface="Arial"/>
              </a:defRPr>
            </a:pPr>
            <a:r>
              <a:rPr sz="1050" b="1">
                <a:solidFill>
                  <a:srgbClr val="40DDFF"/>
                </a:solidFill>
                <a:latin typeface="Arial"/>
                <a:ea typeface="Arial"/>
                <a:cs typeface="Arial"/>
              </a:rPr>
              <a:t>U N M U T E</a:t>
            </a:r>
          </a:p>
        </p:txBody>
      </p:sp>
      <p:sp>
        <p:nvSpPr>
          <p:cNvPr id="7" name="03 / 06 42">
            <a:extLst xmlns:a="http://schemas.openxmlformats.org/drawingml/2006/main">
              <a:ext uri="{FF2B5EF4-FFF2-40B4-BE49-F238E27FC236}">
                <a16:creationId xmlns:a16="http://schemas.microsoft.com/office/drawing/2014/main" id="{FA248075-61F7-4722-A719-947F2CFA2C45}"/>
              </a:ext>
            </a:extLst>
          </p:cNvPr>
          <p:cNvSpPr>
            <a:spLocks xmlns:a="http://schemas.openxmlformats.org/drawingml/2006/main" noGrp="1"/>
          </p:cNvSpPr>
          <p:nvPr/>
        </p:nvSpPr>
        <p:spPr>
          <a:xfrm xmlns:a="http://schemas.openxmlformats.org/drawingml/2006/main">
            <a:off x="10668000" y="295275"/>
            <a:ext cx="1009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1">
                <a:solidFill>
                  <a:srgbClr val="A7B5D4"/>
                </a:solidFill>
                <a:latin typeface="Arial"/>
                <a:ea typeface="Arial"/>
                <a:cs typeface="Arial"/>
              </a:defRPr>
            </a:pPr>
            <a:r>
              <a:rPr sz="975" b="1">
                <a:solidFill>
                  <a:srgbClr val="A7B5D4"/>
                </a:solidFill>
                <a:latin typeface="Arial"/>
                <a:ea typeface="Arial"/>
                <a:cs typeface="Arial"/>
              </a:rPr>
              <a:t>03 / 06</a:t>
            </a:r>
          </a:p>
        </p:txBody>
      </p:sp>
      <p:sp>
        <p:nvSpPr>
          <p:cNvPr id="8" name="Divider 43">
            <a:extLst xmlns:a="http://schemas.openxmlformats.org/drawingml/2006/main">
              <a:ext uri="{FF2B5EF4-FFF2-40B4-BE49-F238E27FC236}">
                <a16:creationId xmlns:a16="http://schemas.microsoft.com/office/drawing/2014/main" id="{A5229AE9-BC3B-47B4-850E-3C35E6869007}"/>
              </a:ext>
            </a:extLst>
          </p:cNvPr>
          <p:cNvSpPr>
            <a:spLocks xmlns:a="http://schemas.openxmlformats.org/drawingml/2006/main" noGrp="1"/>
          </p:cNvSpPr>
          <p:nvPr/>
        </p:nvSpPr>
        <p:spPr>
          <a:xfrm xmlns:a="http://schemas.openxmlformats.org/drawingml/2006/main">
            <a:off x="533400" y="762000"/>
            <a:ext cx="438150" cy="0"/>
          </a:xfrm>
          <a:prstGeom xmlns:a="http://schemas.openxmlformats.org/drawingml/2006/main" prst="line">
            <a:avLst/>
          </a:prstGeom>
          <a:noFill xmlns:a="http://schemas.openxmlformats.org/drawingml/2006/main"/>
          <a:ln xmlns:a="http://schemas.openxmlformats.org/drawingml/2006/main" w="9525">
            <a:solidFill>
              <a:srgbClr val="40DDFF"/>
            </a:solidFill>
          </a:ln>
        </p:spPr>
      </p:sp>
      <p:sp>
        <p:nvSpPr>
          <p:cNvPr id="9" name="OUR ANSWER 44">
            <a:extLst xmlns:a="http://schemas.openxmlformats.org/drawingml/2006/main">
              <a:ext uri="{FF2B5EF4-FFF2-40B4-BE49-F238E27FC236}">
                <a16:creationId xmlns:a16="http://schemas.microsoft.com/office/drawing/2014/main" id="{3EB9DE73-E099-48F6-9B58-9CBAE8278041}"/>
              </a:ext>
            </a:extLst>
          </p:cNvPr>
          <p:cNvSpPr>
            <a:spLocks xmlns:a="http://schemas.openxmlformats.org/drawingml/2006/main" noGrp="1"/>
          </p:cNvSpPr>
          <p:nvPr/>
        </p:nvSpPr>
        <p:spPr>
          <a:xfrm xmlns:a="http://schemas.openxmlformats.org/drawingml/2006/main">
            <a:off x="1095375" y="66675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A7B5D4"/>
                </a:solidFill>
                <a:latin typeface="Arial"/>
                <a:ea typeface="Arial"/>
                <a:cs typeface="Arial"/>
              </a:defRPr>
            </a:pPr>
            <a:r>
              <a:rPr sz="1050" b="1">
                <a:solidFill>
                  <a:srgbClr val="A7B5D4"/>
                </a:solidFill>
                <a:latin typeface="Arial"/>
                <a:ea typeface="Arial"/>
                <a:cs typeface="Arial"/>
              </a:rPr>
              <a:t>OUR ANSWER</a:t>
            </a:r>
          </a:p>
        </p:txBody>
      </p:sp>
      <p:sp>
        <p:nvSpPr>
          <p:cNvPr id="10" name="The Solution 45">
            <a:extLst xmlns:a="http://schemas.openxmlformats.org/drawingml/2006/main">
              <a:ext uri="{FF2B5EF4-FFF2-40B4-BE49-F238E27FC236}">
                <a16:creationId xmlns:a16="http://schemas.microsoft.com/office/drawing/2014/main" id="{FD70899E-5209-40CF-AFD0-7E59BF1EBF94}"/>
              </a:ext>
            </a:extLst>
          </p:cNvPr>
          <p:cNvSpPr>
            <a:spLocks xmlns:a="http://schemas.openxmlformats.org/drawingml/2006/main" noGrp="1"/>
          </p:cNvSpPr>
          <p:nvPr/>
        </p:nvSpPr>
        <p:spPr>
          <a:xfrm xmlns:a="http://schemas.openxmlformats.org/drawingml/2006/main">
            <a:off x="533400" y="971550"/>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E8EEFD"/>
                </a:solidFill>
                <a:latin typeface="Arial"/>
                <a:ea typeface="Arial"/>
                <a:cs typeface="Arial"/>
              </a:defRPr>
            </a:pPr>
            <a:r>
              <a:rPr sz="3150" b="1">
                <a:solidFill>
                  <a:srgbClr val="E8EEFD"/>
                </a:solidFill>
                <a:latin typeface="Arial"/>
                <a:ea typeface="Arial"/>
                <a:cs typeface="Arial"/>
              </a:rPr>
              <a:t>The </a:t>
            </a:r>
            <a:r>
              <a:rPr sz="3150" b="1">
                <a:gradFill>
                  <a:gsLst>
                    <a:gs pos="0">
                      <a:srgbClr val="40DDFF"/>
                    </a:gs>
                    <a:gs pos="50000">
                      <a:srgbClr val="9C7CFF"/>
                    </a:gs>
                    <a:gs pos="100000">
                      <a:srgbClr val="E775D2"/>
                    </a:gs>
                  </a:gsLst>
                  <a:lin ang="0"/>
                </a:gradFill>
                <a:latin typeface="Arial"/>
                <a:ea typeface="Arial"/>
                <a:cs typeface="Arial"/>
              </a:rPr>
              <a:t>Solution</a:t>
            </a:r>
          </a:p>
        </p:txBody>
      </p:sp>
      <p:sp>
        <p:nvSpPr>
          <p:cNvPr id="11" name="R A M P A G E   /   B I T  N  B U I L D  2 46">
            <a:extLst xmlns:a="http://schemas.openxmlformats.org/drawingml/2006/main">
              <a:ext uri="{FF2B5EF4-FFF2-40B4-BE49-F238E27FC236}">
                <a16:creationId xmlns:a16="http://schemas.microsoft.com/office/drawing/2014/main" id="{50AEB821-B4B6-42B2-B9F3-B27E0172FC86}"/>
              </a:ext>
            </a:extLst>
          </p:cNvPr>
          <p:cNvSpPr>
            <a:spLocks xmlns:a="http://schemas.openxmlformats.org/drawingml/2006/main" noGrp="1"/>
          </p:cNvSpPr>
          <p:nvPr/>
        </p:nvSpPr>
        <p:spPr>
          <a:xfrm xmlns:a="http://schemas.openxmlformats.org/drawingml/2006/main">
            <a:off x="533400" y="6591300"/>
            <a:ext cx="95250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50" b="0">
                <a:solidFill>
                  <a:srgbClr val="A7B5D4"/>
                </a:solidFill>
                <a:latin typeface="Arial"/>
                <a:ea typeface="Arial"/>
                <a:cs typeface="Arial"/>
              </a:defRPr>
            </a:pPr>
            <a:r>
              <a:rPr sz="750" b="0">
                <a:solidFill>
                  <a:srgbClr val="A7B5D4"/>
                </a:solidFill>
                <a:latin typeface="Arial"/>
                <a:ea typeface="Arial"/>
                <a:cs typeface="Arial"/>
              </a:rPr>
              <a:t>R A M P A G E   /   B I T  N  B U I L D  2 0 2 6</a:t>
            </a:r>
          </a:p>
        </p:txBody>
      </p:sp>
      <p:sp>
        <p:nvSpPr>
          <p:cNvPr id="12" name="Panel 47">
            <a:extLst xmlns:a="http://schemas.openxmlformats.org/drawingml/2006/main">
              <a:ext uri="{FF2B5EF4-FFF2-40B4-BE49-F238E27FC236}">
                <a16:creationId xmlns:a16="http://schemas.microsoft.com/office/drawing/2014/main" id="{CF527C9D-A9AE-4046-B373-8047C2E673FD}"/>
              </a:ext>
            </a:extLst>
          </p:cNvPr>
          <p:cNvSpPr>
            <a:spLocks xmlns:a="http://schemas.openxmlformats.org/drawingml/2006/main" noGrp="1"/>
          </p:cNvSpPr>
          <p:nvPr/>
        </p:nvSpPr>
        <p:spPr>
          <a:xfrm xmlns:a="http://schemas.openxmlformats.org/drawingml/2006/main">
            <a:off x="533400" y="1714500"/>
            <a:ext cx="5457825" cy="1695450"/>
          </a:xfrm>
          <a:prstGeom xmlns:a="http://schemas.openxmlformats.org/drawingml/2006/main" prst="roundRect">
            <a:avLst>
              <a:gd name="adj" fmla="val 10112"/>
            </a:avLst>
          </a:prstGeom>
          <a:solidFill xmlns:a="http://schemas.openxmlformats.org/drawingml/2006/main">
            <a:srgbClr val="FFFFFF">
              <a:alpha val="4000"/>
            </a:srgbClr>
          </a:solidFill>
          <a:ln xmlns:a="http://schemas.openxmlformats.org/drawingml/2006/main" w="6668">
            <a:solidFill>
              <a:srgbClr val="414451"/>
            </a:solidFill>
          </a:ln>
        </p:spPr>
      </p:sp>
      <p:sp>
        <p:nvSpPr>
          <p:cNvPr id="13" name="PROPOSED SOLUTION 48">
            <a:extLst xmlns:a="http://schemas.openxmlformats.org/drawingml/2006/main">
              <a:ext uri="{FF2B5EF4-FFF2-40B4-BE49-F238E27FC236}">
                <a16:creationId xmlns:a16="http://schemas.microsoft.com/office/drawing/2014/main" id="{B179AC1B-AC10-43BE-A84B-28323C9F57B7}"/>
              </a:ext>
            </a:extLst>
          </p:cNvPr>
          <p:cNvSpPr>
            <a:spLocks xmlns:a="http://schemas.openxmlformats.org/drawingml/2006/main" noGrp="1"/>
          </p:cNvSpPr>
          <p:nvPr/>
        </p:nvSpPr>
        <p:spPr>
          <a:xfrm xmlns:a="http://schemas.openxmlformats.org/drawingml/2006/main">
            <a:off x="762000" y="1914525"/>
            <a:ext cx="500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40DDFF"/>
                </a:solidFill>
                <a:latin typeface="Arial"/>
                <a:ea typeface="Arial"/>
                <a:cs typeface="Arial"/>
              </a:defRPr>
            </a:pPr>
            <a:r>
              <a:rPr sz="1050" b="1">
                <a:solidFill>
                  <a:srgbClr val="40DDFF"/>
                </a:solidFill>
                <a:latin typeface="Arial"/>
                <a:ea typeface="Arial"/>
                <a:cs typeface="Arial"/>
              </a:rPr>
              <a:t>PROPOSED SOLUTION</a:t>
            </a:r>
          </a:p>
        </p:txBody>
      </p:sp>
      <p:sp>
        <p:nvSpPr>
          <p:cNvPr id="14" name="UNMUTE turns English speech and captions i 49">
            <a:extLst xmlns:a="http://schemas.openxmlformats.org/drawingml/2006/main">
              <a:ext uri="{FF2B5EF4-FFF2-40B4-BE49-F238E27FC236}">
                <a16:creationId xmlns:a16="http://schemas.microsoft.com/office/drawing/2014/main" id="{6D746051-998A-4D94-A623-09E36EC470A4}"/>
              </a:ext>
            </a:extLst>
          </p:cNvPr>
          <p:cNvSpPr>
            <a:spLocks xmlns:a="http://schemas.openxmlformats.org/drawingml/2006/main" noGrp="1"/>
          </p:cNvSpPr>
          <p:nvPr/>
        </p:nvSpPr>
        <p:spPr>
          <a:xfrm xmlns:a="http://schemas.openxmlformats.org/drawingml/2006/main">
            <a:off x="762000" y="2266950"/>
            <a:ext cx="50006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E8EEFD"/>
                </a:solidFill>
                <a:latin typeface="Arial"/>
                <a:ea typeface="Arial"/>
                <a:cs typeface="Arial"/>
              </a:defRPr>
            </a:pPr>
            <a:r>
              <a:rPr sz="1650" b="0">
                <a:solidFill>
                  <a:srgbClr val="E8EEFD"/>
                </a:solidFill>
                <a:latin typeface="Arial"/>
                <a:ea typeface="Arial"/>
                <a:cs typeface="Arial"/>
              </a:rPr>
              <a:t>UNMUTE turns English speech and captions into ASL signing plans, displayed by the NEXA 3D avatar. It supports recordings, public YouTube videos, and selected live audio.</a:t>
            </a:r>
          </a:p>
        </p:txBody>
      </p:sp>
      <p:sp>
        <p:nvSpPr>
          <p:cNvPr id="15" name="Panel 50">
            <a:extLst xmlns:a="http://schemas.openxmlformats.org/drawingml/2006/main">
              <a:ext uri="{FF2B5EF4-FFF2-40B4-BE49-F238E27FC236}">
                <a16:creationId xmlns:a16="http://schemas.microsoft.com/office/drawing/2014/main" id="{873EBDCE-5D48-4EF0-8C85-453760AAB48E}"/>
              </a:ext>
            </a:extLst>
          </p:cNvPr>
          <p:cNvSpPr>
            <a:spLocks xmlns:a="http://schemas.openxmlformats.org/drawingml/2006/main" noGrp="1"/>
          </p:cNvSpPr>
          <p:nvPr/>
        </p:nvSpPr>
        <p:spPr>
          <a:xfrm xmlns:a="http://schemas.openxmlformats.org/drawingml/2006/main">
            <a:off x="6181725" y="1714500"/>
            <a:ext cx="5476875" cy="1695450"/>
          </a:xfrm>
          <a:prstGeom xmlns:a="http://schemas.openxmlformats.org/drawingml/2006/main" prst="roundRect">
            <a:avLst>
              <a:gd name="adj" fmla="val 10112"/>
            </a:avLst>
          </a:prstGeom>
          <a:solidFill xmlns:a="http://schemas.openxmlformats.org/drawingml/2006/main">
            <a:srgbClr val="FFFFFF">
              <a:alpha val="4000"/>
            </a:srgbClr>
          </a:solidFill>
          <a:ln xmlns:a="http://schemas.openxmlformats.org/drawingml/2006/main" w="6668">
            <a:solidFill>
              <a:srgbClr val="414451"/>
            </a:solidFill>
          </a:ln>
        </p:spPr>
      </p:sp>
      <p:sp>
        <p:nvSpPr>
          <p:cNvPr id="16" name="KEY FEATURES 51">
            <a:extLst xmlns:a="http://schemas.openxmlformats.org/drawingml/2006/main">
              <a:ext uri="{FF2B5EF4-FFF2-40B4-BE49-F238E27FC236}">
                <a16:creationId xmlns:a16="http://schemas.microsoft.com/office/drawing/2014/main" id="{A6CA6C88-25F7-4474-A525-B5E0AF18EF29}"/>
              </a:ext>
            </a:extLst>
          </p:cNvPr>
          <p:cNvSpPr>
            <a:spLocks xmlns:a="http://schemas.openxmlformats.org/drawingml/2006/main" noGrp="1"/>
          </p:cNvSpPr>
          <p:nvPr/>
        </p:nvSpPr>
        <p:spPr>
          <a:xfrm xmlns:a="http://schemas.openxmlformats.org/drawingml/2006/main">
            <a:off x="6410325" y="1914525"/>
            <a:ext cx="50196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40DDFF"/>
                </a:solidFill>
                <a:latin typeface="Arial"/>
                <a:ea typeface="Arial"/>
                <a:cs typeface="Arial"/>
              </a:defRPr>
            </a:pPr>
            <a:r>
              <a:rPr sz="1050" b="1">
                <a:solidFill>
                  <a:srgbClr val="40DDFF"/>
                </a:solidFill>
                <a:latin typeface="Arial"/>
                <a:ea typeface="Arial"/>
                <a:cs typeface="Arial"/>
              </a:rPr>
              <a:t>KEY FEATURES</a:t>
            </a:r>
          </a:p>
        </p:txBody>
      </p:sp>
      <p:sp>
        <p:nvSpPr>
          <p:cNvPr id="17" name="YouTube and recorded-media imports 52">
            <a:extLst xmlns:a="http://schemas.openxmlformats.org/drawingml/2006/main">
              <a:ext uri="{FF2B5EF4-FFF2-40B4-BE49-F238E27FC236}">
                <a16:creationId xmlns:a16="http://schemas.microsoft.com/office/drawing/2014/main" id="{442DC5F8-76A2-4EAD-B02D-7049E9410F0D}"/>
              </a:ext>
            </a:extLst>
          </p:cNvPr>
          <p:cNvSpPr>
            <a:spLocks xmlns:a="http://schemas.openxmlformats.org/drawingml/2006/main" noGrp="1"/>
          </p:cNvSpPr>
          <p:nvPr/>
        </p:nvSpPr>
        <p:spPr>
          <a:xfrm xmlns:a="http://schemas.openxmlformats.org/drawingml/2006/main">
            <a:off x="6419850" y="2209800"/>
            <a:ext cx="5000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E8EEFD"/>
                </a:solidFill>
                <a:latin typeface="Arial"/>
                <a:ea typeface="Arial"/>
                <a:cs typeface="Arial"/>
              </a:defRPr>
            </a:pPr>
            <a:r>
              <a:rPr sz="1500" b="0">
                <a:solidFill>
                  <a:srgbClr val="E8EEFD"/>
                </a:solidFill>
                <a:latin typeface="Arial"/>
                <a:ea typeface="Arial"/>
                <a:cs typeface="Arial"/>
              </a:rPr>
              <a:t>YouTube and recorded-media imports</a:t>
            </a:r>
          </a:p>
        </p:txBody>
      </p:sp>
      <p:sp>
        <p:nvSpPr>
          <p:cNvPr id="18" name="Live signing from a tab, microphone, or bo 53">
            <a:extLst xmlns:a="http://schemas.openxmlformats.org/drawingml/2006/main">
              <a:ext uri="{FF2B5EF4-FFF2-40B4-BE49-F238E27FC236}">
                <a16:creationId xmlns:a16="http://schemas.microsoft.com/office/drawing/2014/main" id="{2673347B-974A-4D4E-BA55-81C975493E46}"/>
              </a:ext>
            </a:extLst>
          </p:cNvPr>
          <p:cNvSpPr>
            <a:spLocks xmlns:a="http://schemas.openxmlformats.org/drawingml/2006/main" noGrp="1"/>
          </p:cNvSpPr>
          <p:nvPr/>
        </p:nvSpPr>
        <p:spPr>
          <a:xfrm xmlns:a="http://schemas.openxmlformats.org/drawingml/2006/main">
            <a:off x="6419850" y="2543175"/>
            <a:ext cx="5000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E8EEFD"/>
                </a:solidFill>
                <a:latin typeface="Arial"/>
                <a:ea typeface="Arial"/>
                <a:cs typeface="Arial"/>
              </a:defRPr>
            </a:pPr>
            <a:r>
              <a:rPr sz="1500" b="0">
                <a:solidFill>
                  <a:srgbClr val="E8EEFD"/>
                </a:solidFill>
                <a:latin typeface="Arial"/>
                <a:ea typeface="Arial"/>
                <a:cs typeface="Arial"/>
              </a:rPr>
              <a:t>Live signing from a tab, microphone, or both</a:t>
            </a:r>
          </a:p>
        </p:txBody>
      </p:sp>
      <p:sp>
        <p:nvSpPr>
          <p:cNvPr id="19" name="Contextual facial cues and playback contro 54">
            <a:extLst xmlns:a="http://schemas.openxmlformats.org/drawingml/2006/main">
              <a:ext uri="{FF2B5EF4-FFF2-40B4-BE49-F238E27FC236}">
                <a16:creationId xmlns:a16="http://schemas.microsoft.com/office/drawing/2014/main" id="{DA4FAAC8-4FEC-41C1-8F77-99F470284C7F}"/>
              </a:ext>
            </a:extLst>
          </p:cNvPr>
          <p:cNvSpPr>
            <a:spLocks xmlns:a="http://schemas.openxmlformats.org/drawingml/2006/main" noGrp="1"/>
          </p:cNvSpPr>
          <p:nvPr/>
        </p:nvSpPr>
        <p:spPr>
          <a:xfrm xmlns:a="http://schemas.openxmlformats.org/drawingml/2006/main">
            <a:off x="6419850" y="2876550"/>
            <a:ext cx="5000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E8EEFD"/>
                </a:solidFill>
                <a:latin typeface="Arial"/>
                <a:ea typeface="Arial"/>
                <a:cs typeface="Arial"/>
              </a:defRPr>
            </a:pPr>
            <a:r>
              <a:rPr sz="1500" b="0">
                <a:solidFill>
                  <a:srgbClr val="E8EEFD"/>
                </a:solidFill>
                <a:latin typeface="Arial"/>
                <a:ea typeface="Arial"/>
                <a:cs typeface="Arial"/>
              </a:rPr>
              <a:t>Contextual facial cues and playback controls</a:t>
            </a:r>
          </a:p>
        </p:txBody>
      </p:sp>
      <p:sp>
        <p:nvSpPr>
          <p:cNvPr id="20" name="Panel 55">
            <a:extLst xmlns:a="http://schemas.openxmlformats.org/drawingml/2006/main">
              <a:ext uri="{FF2B5EF4-FFF2-40B4-BE49-F238E27FC236}">
                <a16:creationId xmlns:a16="http://schemas.microsoft.com/office/drawing/2014/main" id="{A459C7D6-858C-4599-AA70-EBAAF99592D0}"/>
              </a:ext>
            </a:extLst>
          </p:cNvPr>
          <p:cNvSpPr>
            <a:spLocks xmlns:a="http://schemas.openxmlformats.org/drawingml/2006/main" noGrp="1"/>
          </p:cNvSpPr>
          <p:nvPr/>
        </p:nvSpPr>
        <p:spPr>
          <a:xfrm xmlns:a="http://schemas.openxmlformats.org/drawingml/2006/main">
            <a:off x="533400" y="3600450"/>
            <a:ext cx="5457825" cy="2762250"/>
          </a:xfrm>
          <a:prstGeom xmlns:a="http://schemas.openxmlformats.org/drawingml/2006/main" prst="roundRect">
            <a:avLst>
              <a:gd name="adj" fmla="val 6207"/>
            </a:avLst>
          </a:prstGeom>
          <a:solidFill xmlns:a="http://schemas.openxmlformats.org/drawingml/2006/main">
            <a:srgbClr val="FFFFFF">
              <a:alpha val="4000"/>
            </a:srgbClr>
          </a:solidFill>
          <a:ln xmlns:a="http://schemas.openxmlformats.org/drawingml/2006/main" w="6668">
            <a:solidFill>
              <a:srgbClr val="414451"/>
            </a:solidFill>
          </a:ln>
        </p:spPr>
      </p:sp>
      <p:sp>
        <p:nvSpPr>
          <p:cNvPr id="21" name="USER FLOW 56">
            <a:extLst xmlns:a="http://schemas.openxmlformats.org/drawingml/2006/main">
              <a:ext uri="{FF2B5EF4-FFF2-40B4-BE49-F238E27FC236}">
                <a16:creationId xmlns:a16="http://schemas.microsoft.com/office/drawing/2014/main" id="{0FAF2A4E-4325-4183-AE59-1CFE5029D72B}"/>
              </a:ext>
            </a:extLst>
          </p:cNvPr>
          <p:cNvSpPr>
            <a:spLocks xmlns:a="http://schemas.openxmlformats.org/drawingml/2006/main" noGrp="1"/>
          </p:cNvSpPr>
          <p:nvPr/>
        </p:nvSpPr>
        <p:spPr>
          <a:xfrm xmlns:a="http://schemas.openxmlformats.org/drawingml/2006/main">
            <a:off x="762000" y="3800475"/>
            <a:ext cx="500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40DDFF"/>
                </a:solidFill>
                <a:latin typeface="Arial"/>
                <a:ea typeface="Arial"/>
                <a:cs typeface="Arial"/>
              </a:defRPr>
            </a:pPr>
            <a:r>
              <a:rPr sz="1050" b="1">
                <a:solidFill>
                  <a:srgbClr val="40DDFF"/>
                </a:solidFill>
                <a:latin typeface="Arial"/>
                <a:ea typeface="Arial"/>
                <a:cs typeface="Arial"/>
              </a:rPr>
              <a:t>USER FLOW</a:t>
            </a:r>
          </a:p>
        </p:txBody>
      </p:sp>
      <p:sp>
        <p:nvSpPr>
          <p:cNvPr id="22" name="Step 1 57">
            <a:extLst xmlns:a="http://schemas.openxmlformats.org/drawingml/2006/main">
              <a:ext uri="{FF2B5EF4-FFF2-40B4-BE49-F238E27FC236}">
                <a16:creationId xmlns:a16="http://schemas.microsoft.com/office/drawing/2014/main" id="{EF55BEA9-21CC-48F3-850A-38A648FD8390}"/>
              </a:ext>
            </a:extLst>
          </p:cNvPr>
          <p:cNvSpPr>
            <a:spLocks xmlns:a="http://schemas.openxmlformats.org/drawingml/2006/main" noGrp="1"/>
          </p:cNvSpPr>
          <p:nvPr/>
        </p:nvSpPr>
        <p:spPr>
          <a:xfrm xmlns:a="http://schemas.openxmlformats.org/drawingml/2006/main">
            <a:off x="762000" y="4086225"/>
            <a:ext cx="295275" cy="295275"/>
          </a:xfrm>
          <a:prstGeom xmlns:a="http://schemas.openxmlformats.org/drawingml/2006/main" prst="roundRect">
            <a:avLst>
              <a:gd name="adj" fmla="val 25806"/>
            </a:avLst>
          </a:prstGeom>
          <a:solidFill xmlns:a="http://schemas.openxmlformats.org/drawingml/2006/main">
            <a:srgbClr val="40DDFF">
              <a:alpha val="12000"/>
            </a:srgbClr>
          </a:solidFill>
          <a:ln xmlns:a="http://schemas.openxmlformats.org/drawingml/2006/main" w="6668">
            <a:solidFill>
              <a:srgbClr val="557084"/>
            </a:solidFill>
          </a:ln>
        </p:spPr>
      </p:sp>
      <p:sp>
        <p:nvSpPr>
          <p:cNvPr id="23" name="1 58">
            <a:extLst xmlns:a="http://schemas.openxmlformats.org/drawingml/2006/main">
              <a:ext uri="{FF2B5EF4-FFF2-40B4-BE49-F238E27FC236}">
                <a16:creationId xmlns:a16="http://schemas.microsoft.com/office/drawing/2014/main" id="{D1C58279-0CCB-47B6-8B7D-28496DA79974}"/>
              </a:ext>
            </a:extLst>
          </p:cNvPr>
          <p:cNvSpPr>
            <a:spLocks xmlns:a="http://schemas.openxmlformats.org/drawingml/2006/main" noGrp="1"/>
          </p:cNvSpPr>
          <p:nvPr/>
        </p:nvSpPr>
        <p:spPr>
          <a:xfrm xmlns:a="http://schemas.openxmlformats.org/drawingml/2006/main">
            <a:off x="762000" y="4124325"/>
            <a:ext cx="2952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00" b="1">
                <a:solidFill>
                  <a:srgbClr val="40DDFF"/>
                </a:solidFill>
                <a:latin typeface="Arial"/>
                <a:ea typeface="Arial"/>
                <a:cs typeface="Arial"/>
              </a:defRPr>
            </a:pPr>
            <a:r>
              <a:rPr sz="1200" b="1">
                <a:solidFill>
                  <a:srgbClr val="40DDFF"/>
                </a:solidFill>
                <a:latin typeface="Arial"/>
                <a:ea typeface="Arial"/>
                <a:cs typeface="Arial"/>
              </a:rPr>
              <a:t>1</a:t>
            </a:r>
          </a:p>
        </p:txBody>
      </p:sp>
      <p:sp>
        <p:nvSpPr>
          <p:cNvPr id="24" name="Open UNMUTE. Sign-in is optional. 59">
            <a:extLst xmlns:a="http://schemas.openxmlformats.org/drawingml/2006/main">
              <a:ext uri="{FF2B5EF4-FFF2-40B4-BE49-F238E27FC236}">
                <a16:creationId xmlns:a16="http://schemas.microsoft.com/office/drawing/2014/main" id="{DA736683-947A-4C63-8653-F5B67026AF2B}"/>
              </a:ext>
            </a:extLst>
          </p:cNvPr>
          <p:cNvSpPr>
            <a:spLocks xmlns:a="http://schemas.openxmlformats.org/drawingml/2006/main" noGrp="1"/>
          </p:cNvSpPr>
          <p:nvPr/>
        </p:nvSpPr>
        <p:spPr>
          <a:xfrm xmlns:a="http://schemas.openxmlformats.org/drawingml/2006/main">
            <a:off x="1200150" y="4114800"/>
            <a:ext cx="4533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E8EEFD"/>
                </a:solidFill>
                <a:latin typeface="Arial"/>
                <a:ea typeface="Arial"/>
                <a:cs typeface="Arial"/>
              </a:defRPr>
            </a:pPr>
            <a:r>
              <a:rPr sz="1425" b="0">
                <a:solidFill>
                  <a:srgbClr val="E8EEFD"/>
                </a:solidFill>
                <a:latin typeface="Arial"/>
                <a:ea typeface="Arial"/>
                <a:cs typeface="Arial"/>
              </a:rPr>
              <a:t>Open UNMUTE. Sign-in is optional.</a:t>
            </a:r>
          </a:p>
        </p:txBody>
      </p:sp>
      <p:sp>
        <p:nvSpPr>
          <p:cNvPr id="25" name="Step 2 60">
            <a:extLst xmlns:a="http://schemas.openxmlformats.org/drawingml/2006/main">
              <a:ext uri="{FF2B5EF4-FFF2-40B4-BE49-F238E27FC236}">
                <a16:creationId xmlns:a16="http://schemas.microsoft.com/office/drawing/2014/main" id="{FD2686AA-8178-4EE9-9988-BC27443E2DDB}"/>
              </a:ext>
            </a:extLst>
          </p:cNvPr>
          <p:cNvSpPr>
            <a:spLocks xmlns:a="http://schemas.openxmlformats.org/drawingml/2006/main" noGrp="1"/>
          </p:cNvSpPr>
          <p:nvPr/>
        </p:nvSpPr>
        <p:spPr>
          <a:xfrm xmlns:a="http://schemas.openxmlformats.org/drawingml/2006/main">
            <a:off x="762000" y="4505325"/>
            <a:ext cx="295275" cy="295275"/>
          </a:xfrm>
          <a:prstGeom xmlns:a="http://schemas.openxmlformats.org/drawingml/2006/main" prst="roundRect">
            <a:avLst>
              <a:gd name="adj" fmla="val 25806"/>
            </a:avLst>
          </a:prstGeom>
          <a:solidFill xmlns:a="http://schemas.openxmlformats.org/drawingml/2006/main">
            <a:srgbClr val="40DDFF">
              <a:alpha val="12000"/>
            </a:srgbClr>
          </a:solidFill>
          <a:ln xmlns:a="http://schemas.openxmlformats.org/drawingml/2006/main" w="6668">
            <a:solidFill>
              <a:srgbClr val="557084"/>
            </a:solidFill>
          </a:ln>
        </p:spPr>
      </p:sp>
      <p:sp>
        <p:nvSpPr>
          <p:cNvPr id="26" name="2 61">
            <a:extLst xmlns:a="http://schemas.openxmlformats.org/drawingml/2006/main">
              <a:ext uri="{FF2B5EF4-FFF2-40B4-BE49-F238E27FC236}">
                <a16:creationId xmlns:a16="http://schemas.microsoft.com/office/drawing/2014/main" id="{126F53C1-9B18-448C-A6B1-59E2E12EFAA0}"/>
              </a:ext>
            </a:extLst>
          </p:cNvPr>
          <p:cNvSpPr>
            <a:spLocks xmlns:a="http://schemas.openxmlformats.org/drawingml/2006/main" noGrp="1"/>
          </p:cNvSpPr>
          <p:nvPr/>
        </p:nvSpPr>
        <p:spPr>
          <a:xfrm xmlns:a="http://schemas.openxmlformats.org/drawingml/2006/main">
            <a:off x="762000" y="4543425"/>
            <a:ext cx="2952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00" b="1">
                <a:solidFill>
                  <a:srgbClr val="40DDFF"/>
                </a:solidFill>
                <a:latin typeface="Arial"/>
                <a:ea typeface="Arial"/>
                <a:cs typeface="Arial"/>
              </a:defRPr>
            </a:pPr>
            <a:r>
              <a:rPr sz="1200" b="1">
                <a:solidFill>
                  <a:srgbClr val="40DDFF"/>
                </a:solidFill>
                <a:latin typeface="Arial"/>
                <a:ea typeface="Arial"/>
                <a:cs typeface="Arial"/>
              </a:rPr>
              <a:t>2</a:t>
            </a:r>
          </a:p>
        </p:txBody>
      </p:sp>
      <p:sp>
        <p:nvSpPr>
          <p:cNvPr id="27" name="Import media or choose live audio. 62">
            <a:extLst xmlns:a="http://schemas.openxmlformats.org/drawingml/2006/main">
              <a:ext uri="{FF2B5EF4-FFF2-40B4-BE49-F238E27FC236}">
                <a16:creationId xmlns:a16="http://schemas.microsoft.com/office/drawing/2014/main" id="{32D681DA-B8F5-4D6C-851C-378680B28E62}"/>
              </a:ext>
            </a:extLst>
          </p:cNvPr>
          <p:cNvSpPr>
            <a:spLocks xmlns:a="http://schemas.openxmlformats.org/drawingml/2006/main" noGrp="1"/>
          </p:cNvSpPr>
          <p:nvPr/>
        </p:nvSpPr>
        <p:spPr>
          <a:xfrm xmlns:a="http://schemas.openxmlformats.org/drawingml/2006/main">
            <a:off x="1200150" y="4533900"/>
            <a:ext cx="4533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E8EEFD"/>
                </a:solidFill>
                <a:latin typeface="Arial"/>
                <a:ea typeface="Arial"/>
                <a:cs typeface="Arial"/>
              </a:defRPr>
            </a:pPr>
            <a:r>
              <a:rPr sz="1425" b="0">
                <a:solidFill>
                  <a:srgbClr val="E8EEFD"/>
                </a:solidFill>
                <a:latin typeface="Arial"/>
                <a:ea typeface="Arial"/>
                <a:cs typeface="Arial"/>
              </a:rPr>
              <a:t>Import media or choose live audio.</a:t>
            </a:r>
          </a:p>
        </p:txBody>
      </p:sp>
      <p:sp>
        <p:nvSpPr>
          <p:cNvPr id="28" name="Step 3 63">
            <a:extLst xmlns:a="http://schemas.openxmlformats.org/drawingml/2006/main">
              <a:ext uri="{FF2B5EF4-FFF2-40B4-BE49-F238E27FC236}">
                <a16:creationId xmlns:a16="http://schemas.microsoft.com/office/drawing/2014/main" id="{06B0FF10-09F6-4985-987E-6E53043871EA}"/>
              </a:ext>
            </a:extLst>
          </p:cNvPr>
          <p:cNvSpPr>
            <a:spLocks xmlns:a="http://schemas.openxmlformats.org/drawingml/2006/main" noGrp="1"/>
          </p:cNvSpPr>
          <p:nvPr/>
        </p:nvSpPr>
        <p:spPr>
          <a:xfrm xmlns:a="http://schemas.openxmlformats.org/drawingml/2006/main">
            <a:off x="762000" y="4924425"/>
            <a:ext cx="295275" cy="295275"/>
          </a:xfrm>
          <a:prstGeom xmlns:a="http://schemas.openxmlformats.org/drawingml/2006/main" prst="roundRect">
            <a:avLst>
              <a:gd name="adj" fmla="val 25806"/>
            </a:avLst>
          </a:prstGeom>
          <a:solidFill xmlns:a="http://schemas.openxmlformats.org/drawingml/2006/main">
            <a:srgbClr val="40DDFF">
              <a:alpha val="12000"/>
            </a:srgbClr>
          </a:solidFill>
          <a:ln xmlns:a="http://schemas.openxmlformats.org/drawingml/2006/main" w="6668">
            <a:solidFill>
              <a:srgbClr val="557084"/>
            </a:solidFill>
          </a:ln>
        </p:spPr>
      </p:sp>
      <p:sp>
        <p:nvSpPr>
          <p:cNvPr id="29" name="3 64">
            <a:extLst xmlns:a="http://schemas.openxmlformats.org/drawingml/2006/main">
              <a:ext uri="{FF2B5EF4-FFF2-40B4-BE49-F238E27FC236}">
                <a16:creationId xmlns:a16="http://schemas.microsoft.com/office/drawing/2014/main" id="{71F1DAB6-A672-4BAB-AB43-F781DC96C65B}"/>
              </a:ext>
            </a:extLst>
          </p:cNvPr>
          <p:cNvSpPr>
            <a:spLocks xmlns:a="http://schemas.openxmlformats.org/drawingml/2006/main" noGrp="1"/>
          </p:cNvSpPr>
          <p:nvPr/>
        </p:nvSpPr>
        <p:spPr>
          <a:xfrm xmlns:a="http://schemas.openxmlformats.org/drawingml/2006/main">
            <a:off x="762000" y="4962525"/>
            <a:ext cx="2952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00" b="1">
                <a:solidFill>
                  <a:srgbClr val="40DDFF"/>
                </a:solidFill>
                <a:latin typeface="Arial"/>
                <a:ea typeface="Arial"/>
                <a:cs typeface="Arial"/>
              </a:defRPr>
            </a:pPr>
            <a:r>
              <a:rPr sz="1200" b="1">
                <a:solidFill>
                  <a:srgbClr val="40DDFF"/>
                </a:solidFill>
                <a:latin typeface="Arial"/>
                <a:ea typeface="Arial"/>
                <a:cs typeface="Arial"/>
              </a:rPr>
              <a:t>3</a:t>
            </a:r>
          </a:p>
        </p:txBody>
      </p:sp>
      <p:sp>
        <p:nvSpPr>
          <p:cNvPr id="30" name="Retrieve captions or transcribe speech. 65">
            <a:extLst xmlns:a="http://schemas.openxmlformats.org/drawingml/2006/main">
              <a:ext uri="{FF2B5EF4-FFF2-40B4-BE49-F238E27FC236}">
                <a16:creationId xmlns:a16="http://schemas.microsoft.com/office/drawing/2014/main" id="{3D324805-43A5-4CE2-B9A8-D808AFF70821}"/>
              </a:ext>
            </a:extLst>
          </p:cNvPr>
          <p:cNvSpPr>
            <a:spLocks xmlns:a="http://schemas.openxmlformats.org/drawingml/2006/main" noGrp="1"/>
          </p:cNvSpPr>
          <p:nvPr/>
        </p:nvSpPr>
        <p:spPr>
          <a:xfrm xmlns:a="http://schemas.openxmlformats.org/drawingml/2006/main">
            <a:off x="1200150" y="4953000"/>
            <a:ext cx="4533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E8EEFD"/>
                </a:solidFill>
                <a:latin typeface="Arial"/>
                <a:ea typeface="Arial"/>
                <a:cs typeface="Arial"/>
              </a:defRPr>
            </a:pPr>
            <a:r>
              <a:rPr sz="1425" b="0">
                <a:solidFill>
                  <a:srgbClr val="E8EEFD"/>
                </a:solidFill>
                <a:latin typeface="Arial"/>
                <a:ea typeface="Arial"/>
                <a:cs typeface="Arial"/>
              </a:rPr>
              <a:t>Retrieve captions or transcribe speech.</a:t>
            </a:r>
          </a:p>
        </p:txBody>
      </p:sp>
      <p:sp>
        <p:nvSpPr>
          <p:cNvPr id="31" name="Step 4 66">
            <a:extLst xmlns:a="http://schemas.openxmlformats.org/drawingml/2006/main">
              <a:ext uri="{FF2B5EF4-FFF2-40B4-BE49-F238E27FC236}">
                <a16:creationId xmlns:a16="http://schemas.microsoft.com/office/drawing/2014/main" id="{AB4486DE-FB6F-4CDD-BCDF-C24B03BD6D29}"/>
              </a:ext>
            </a:extLst>
          </p:cNvPr>
          <p:cNvSpPr>
            <a:spLocks xmlns:a="http://schemas.openxmlformats.org/drawingml/2006/main" noGrp="1"/>
          </p:cNvSpPr>
          <p:nvPr/>
        </p:nvSpPr>
        <p:spPr>
          <a:xfrm xmlns:a="http://schemas.openxmlformats.org/drawingml/2006/main">
            <a:off x="762000" y="5343525"/>
            <a:ext cx="295275" cy="295275"/>
          </a:xfrm>
          <a:prstGeom xmlns:a="http://schemas.openxmlformats.org/drawingml/2006/main" prst="roundRect">
            <a:avLst>
              <a:gd name="adj" fmla="val 25806"/>
            </a:avLst>
          </a:prstGeom>
          <a:solidFill xmlns:a="http://schemas.openxmlformats.org/drawingml/2006/main">
            <a:srgbClr val="40DDFF">
              <a:alpha val="12000"/>
            </a:srgbClr>
          </a:solidFill>
          <a:ln xmlns:a="http://schemas.openxmlformats.org/drawingml/2006/main" w="6668">
            <a:solidFill>
              <a:srgbClr val="557084"/>
            </a:solidFill>
          </a:ln>
        </p:spPr>
      </p:sp>
      <p:sp>
        <p:nvSpPr>
          <p:cNvPr id="32" name="4 67">
            <a:extLst xmlns:a="http://schemas.openxmlformats.org/drawingml/2006/main">
              <a:ext uri="{FF2B5EF4-FFF2-40B4-BE49-F238E27FC236}">
                <a16:creationId xmlns:a16="http://schemas.microsoft.com/office/drawing/2014/main" id="{D1DFB6FE-6666-491D-A1CC-F96DB091BCBB}"/>
              </a:ext>
            </a:extLst>
          </p:cNvPr>
          <p:cNvSpPr>
            <a:spLocks xmlns:a="http://schemas.openxmlformats.org/drawingml/2006/main" noGrp="1"/>
          </p:cNvSpPr>
          <p:nvPr/>
        </p:nvSpPr>
        <p:spPr>
          <a:xfrm xmlns:a="http://schemas.openxmlformats.org/drawingml/2006/main">
            <a:off x="762000" y="5381625"/>
            <a:ext cx="2952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00" b="1">
                <a:solidFill>
                  <a:srgbClr val="40DDFF"/>
                </a:solidFill>
                <a:latin typeface="Arial"/>
                <a:ea typeface="Arial"/>
                <a:cs typeface="Arial"/>
              </a:defRPr>
            </a:pPr>
            <a:r>
              <a:rPr sz="1200" b="1">
                <a:solidFill>
                  <a:srgbClr val="40DDFF"/>
                </a:solidFill>
                <a:latin typeface="Arial"/>
                <a:ea typeface="Arial"/>
                <a:cs typeface="Arial"/>
              </a:rPr>
              <a:t>4</a:t>
            </a:r>
          </a:p>
        </p:txBody>
      </p:sp>
      <p:sp>
        <p:nvSpPr>
          <p:cNvPr id="33" name="Generate ASL gloss and a timed motion plan 68">
            <a:extLst xmlns:a="http://schemas.openxmlformats.org/drawingml/2006/main">
              <a:ext uri="{FF2B5EF4-FFF2-40B4-BE49-F238E27FC236}">
                <a16:creationId xmlns:a16="http://schemas.microsoft.com/office/drawing/2014/main" id="{ACE9C160-07B2-4698-B345-D672886B4A59}"/>
              </a:ext>
            </a:extLst>
          </p:cNvPr>
          <p:cNvSpPr>
            <a:spLocks xmlns:a="http://schemas.openxmlformats.org/drawingml/2006/main" noGrp="1"/>
          </p:cNvSpPr>
          <p:nvPr/>
        </p:nvSpPr>
        <p:spPr>
          <a:xfrm xmlns:a="http://schemas.openxmlformats.org/drawingml/2006/main">
            <a:off x="1200150" y="5372100"/>
            <a:ext cx="4533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E8EEFD"/>
                </a:solidFill>
                <a:latin typeface="Arial"/>
                <a:ea typeface="Arial"/>
                <a:cs typeface="Arial"/>
              </a:defRPr>
            </a:pPr>
            <a:r>
              <a:rPr sz="1425" b="0">
                <a:solidFill>
                  <a:srgbClr val="E8EEFD"/>
                </a:solidFill>
                <a:latin typeface="Arial"/>
                <a:ea typeface="Arial"/>
                <a:cs typeface="Arial"/>
              </a:rPr>
              <a:t>Generate ASL gloss and a timed motion plan.</a:t>
            </a:r>
          </a:p>
        </p:txBody>
      </p:sp>
      <p:sp>
        <p:nvSpPr>
          <p:cNvPr id="34" name="Step 5 69">
            <a:extLst xmlns:a="http://schemas.openxmlformats.org/drawingml/2006/main">
              <a:ext uri="{FF2B5EF4-FFF2-40B4-BE49-F238E27FC236}">
                <a16:creationId xmlns:a16="http://schemas.microsoft.com/office/drawing/2014/main" id="{C258F60D-F203-4E5F-8C28-027F083F13BA}"/>
              </a:ext>
            </a:extLst>
          </p:cNvPr>
          <p:cNvSpPr>
            <a:spLocks xmlns:a="http://schemas.openxmlformats.org/drawingml/2006/main" noGrp="1"/>
          </p:cNvSpPr>
          <p:nvPr/>
        </p:nvSpPr>
        <p:spPr>
          <a:xfrm xmlns:a="http://schemas.openxmlformats.org/drawingml/2006/main">
            <a:off x="762000" y="5762625"/>
            <a:ext cx="295275" cy="295275"/>
          </a:xfrm>
          <a:prstGeom xmlns:a="http://schemas.openxmlformats.org/drawingml/2006/main" prst="roundRect">
            <a:avLst>
              <a:gd name="adj" fmla="val 25806"/>
            </a:avLst>
          </a:prstGeom>
          <a:solidFill xmlns:a="http://schemas.openxmlformats.org/drawingml/2006/main">
            <a:srgbClr val="40DDFF">
              <a:alpha val="12000"/>
            </a:srgbClr>
          </a:solidFill>
          <a:ln xmlns:a="http://schemas.openxmlformats.org/drawingml/2006/main" w="6668">
            <a:solidFill>
              <a:srgbClr val="557084"/>
            </a:solidFill>
          </a:ln>
        </p:spPr>
      </p:sp>
      <p:sp>
        <p:nvSpPr>
          <p:cNvPr id="35" name="5 70">
            <a:extLst xmlns:a="http://schemas.openxmlformats.org/drawingml/2006/main">
              <a:ext uri="{FF2B5EF4-FFF2-40B4-BE49-F238E27FC236}">
                <a16:creationId xmlns:a16="http://schemas.microsoft.com/office/drawing/2014/main" id="{0ECBF54D-B7F2-4E0B-AAEF-FE8D32BB4E2F}"/>
              </a:ext>
            </a:extLst>
          </p:cNvPr>
          <p:cNvSpPr>
            <a:spLocks xmlns:a="http://schemas.openxmlformats.org/drawingml/2006/main" noGrp="1"/>
          </p:cNvSpPr>
          <p:nvPr/>
        </p:nvSpPr>
        <p:spPr>
          <a:xfrm xmlns:a="http://schemas.openxmlformats.org/drawingml/2006/main">
            <a:off x="762000" y="5800725"/>
            <a:ext cx="2952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00" b="1">
                <a:solidFill>
                  <a:srgbClr val="40DDFF"/>
                </a:solidFill>
                <a:latin typeface="Arial"/>
                <a:ea typeface="Arial"/>
                <a:cs typeface="Arial"/>
              </a:defRPr>
            </a:pPr>
            <a:r>
              <a:rPr sz="1200" b="1">
                <a:solidFill>
                  <a:srgbClr val="40DDFF"/>
                </a:solidFill>
                <a:latin typeface="Arial"/>
                <a:ea typeface="Arial"/>
                <a:cs typeface="Arial"/>
              </a:rPr>
              <a:t>5</a:t>
            </a:r>
          </a:p>
        </p:txBody>
      </p:sp>
      <p:sp>
        <p:nvSpPr>
          <p:cNvPr id="36" name="Watch NEXA beside the text or source video 71">
            <a:extLst xmlns:a="http://schemas.openxmlformats.org/drawingml/2006/main">
              <a:ext uri="{FF2B5EF4-FFF2-40B4-BE49-F238E27FC236}">
                <a16:creationId xmlns:a16="http://schemas.microsoft.com/office/drawing/2014/main" id="{B3F6C12E-0663-4072-AC8C-16ACDFD5DAC5}"/>
              </a:ext>
            </a:extLst>
          </p:cNvPr>
          <p:cNvSpPr>
            <a:spLocks xmlns:a="http://schemas.openxmlformats.org/drawingml/2006/main" noGrp="1"/>
          </p:cNvSpPr>
          <p:nvPr/>
        </p:nvSpPr>
        <p:spPr>
          <a:xfrm xmlns:a="http://schemas.openxmlformats.org/drawingml/2006/main">
            <a:off x="1200150" y="5791200"/>
            <a:ext cx="4533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E8EEFD"/>
                </a:solidFill>
                <a:latin typeface="Arial"/>
                <a:ea typeface="Arial"/>
                <a:cs typeface="Arial"/>
              </a:defRPr>
            </a:pPr>
            <a:r>
              <a:rPr sz="1425" b="0">
                <a:solidFill>
                  <a:srgbClr val="E8EEFD"/>
                </a:solidFill>
                <a:latin typeface="Arial"/>
                <a:ea typeface="Arial"/>
                <a:cs typeface="Arial"/>
              </a:rPr>
              <a:t>Watch NEXA beside the text or source video.</a:t>
            </a:r>
          </a:p>
        </p:txBody>
      </p:sp>
      <p:sp>
        <p:nvSpPr>
          <p:cNvPr id="37" name="Panel 72">
            <a:extLst xmlns:a="http://schemas.openxmlformats.org/drawingml/2006/main">
              <a:ext uri="{FF2B5EF4-FFF2-40B4-BE49-F238E27FC236}">
                <a16:creationId xmlns:a16="http://schemas.microsoft.com/office/drawing/2014/main" id="{F3C24FDB-8B26-4EAE-82C3-9BAFBED435B8}"/>
              </a:ext>
            </a:extLst>
          </p:cNvPr>
          <p:cNvSpPr>
            <a:spLocks xmlns:a="http://schemas.openxmlformats.org/drawingml/2006/main" noGrp="1"/>
          </p:cNvSpPr>
          <p:nvPr/>
        </p:nvSpPr>
        <p:spPr>
          <a:xfrm xmlns:a="http://schemas.openxmlformats.org/drawingml/2006/main">
            <a:off x="6181725" y="3600450"/>
            <a:ext cx="5476875" cy="2762250"/>
          </a:xfrm>
          <a:prstGeom xmlns:a="http://schemas.openxmlformats.org/drawingml/2006/main" prst="roundRect">
            <a:avLst>
              <a:gd name="adj" fmla="val 6207"/>
            </a:avLst>
          </a:prstGeom>
          <a:solidFill xmlns:a="http://schemas.openxmlformats.org/drawingml/2006/main">
            <a:srgbClr val="FFFFFF">
              <a:alpha val="4000"/>
            </a:srgbClr>
          </a:solidFill>
          <a:ln xmlns:a="http://schemas.openxmlformats.org/drawingml/2006/main" w="6668">
            <a:solidFill>
              <a:srgbClr val="414451"/>
            </a:solidFill>
          </a:ln>
        </p:spPr>
      </p:sp>
      <p:sp>
        <p:nvSpPr>
          <p:cNvPr id="38" name="ADDRESSING THE PROBLEM 73">
            <a:extLst xmlns:a="http://schemas.openxmlformats.org/drawingml/2006/main">
              <a:ext uri="{FF2B5EF4-FFF2-40B4-BE49-F238E27FC236}">
                <a16:creationId xmlns:a16="http://schemas.microsoft.com/office/drawing/2014/main" id="{D5EE3A89-2F19-41C2-B489-9B38B88CA46D}"/>
              </a:ext>
            </a:extLst>
          </p:cNvPr>
          <p:cNvSpPr>
            <a:spLocks xmlns:a="http://schemas.openxmlformats.org/drawingml/2006/main" noGrp="1"/>
          </p:cNvSpPr>
          <p:nvPr/>
        </p:nvSpPr>
        <p:spPr>
          <a:xfrm xmlns:a="http://schemas.openxmlformats.org/drawingml/2006/main">
            <a:off x="6410325" y="3800475"/>
            <a:ext cx="50196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40DDFF"/>
                </a:solidFill>
                <a:latin typeface="Arial"/>
                <a:ea typeface="Arial"/>
                <a:cs typeface="Arial"/>
              </a:defRPr>
            </a:pPr>
            <a:r>
              <a:rPr sz="1050" b="1">
                <a:solidFill>
                  <a:srgbClr val="40DDFF"/>
                </a:solidFill>
                <a:latin typeface="Arial"/>
                <a:ea typeface="Arial"/>
                <a:cs typeface="Arial"/>
              </a:rPr>
              <a:t>ADDRESSING THE PROBLEM</a:t>
            </a:r>
          </a:p>
        </p:txBody>
      </p:sp>
      <p:sp>
        <p:nvSpPr>
          <p:cNvPr id="39" name="Captions, animated signing, and contextual 74">
            <a:extLst xmlns:a="http://schemas.openxmlformats.org/drawingml/2006/main">
              <a:ext uri="{FF2B5EF4-FFF2-40B4-BE49-F238E27FC236}">
                <a16:creationId xmlns:a16="http://schemas.microsoft.com/office/drawing/2014/main" id="{1A2E5B20-7267-4E9F-92E7-6C807B70A8AF}"/>
              </a:ext>
            </a:extLst>
          </p:cNvPr>
          <p:cNvSpPr>
            <a:spLocks xmlns:a="http://schemas.openxmlformats.org/drawingml/2006/main" noGrp="1"/>
          </p:cNvSpPr>
          <p:nvPr/>
        </p:nvSpPr>
        <p:spPr>
          <a:xfrm xmlns:a="http://schemas.openxmlformats.org/drawingml/2006/main">
            <a:off x="6410325" y="4152900"/>
            <a:ext cx="5019675" cy="2038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E8EEFD"/>
                </a:solidFill>
                <a:latin typeface="Arial"/>
                <a:ea typeface="Arial"/>
                <a:cs typeface="Arial"/>
              </a:defRPr>
            </a:pPr>
            <a:r>
              <a:rPr sz="1725" b="0">
                <a:solidFill>
                  <a:srgbClr val="E8EEFD"/>
                </a:solidFill>
                <a:latin typeface="Arial"/>
                <a:ea typeface="Arial"/>
                <a:cs typeface="Arial"/>
              </a:rPr>
              <a:t>Captions, animated signing, and contextual cues share one view.</a:t>
            </a:r>
          </a:p>
          <a:p xmlns:a="http://schemas.openxmlformats.org/drawingml/2006/main">
            <a:r>
              <a:t/>
            </a:r>
          </a:p>
          <a:p xmlns:a="http://schemas.openxmlformats.org/drawingml/2006/main">
            <a:pPr algn="l">
              <a:defRPr sz="1725" b="0">
                <a:solidFill>
                  <a:srgbClr val="E8EEFD"/>
                </a:solidFill>
                <a:latin typeface="Arial"/>
                <a:ea typeface="Arial"/>
                <a:cs typeface="Arial"/>
              </a:defRPr>
            </a:pPr>
            <a:r>
              <a:rPr sz="1725" b="0">
                <a:solidFill>
                  <a:srgbClr val="E8EEFD"/>
                </a:solidFill>
                <a:latin typeface="Arial"/>
                <a:ea typeface="Arial"/>
                <a:cs typeface="Arial"/>
              </a:rPr>
              <a:t>The current prototype supports English input and ASL output. Vocabulary and translation quality continue to improve.</a:t>
            </a:r>
          </a:p>
        </p:txBody>
      </p:sp>
    </p:spTree>
    <p:extLst>
      <p:ext uri="{BB962C8B-B14F-4D97-AF65-F5344CB8AC3E}">
        <p14:creationId xmlns:p14="http://schemas.microsoft.com/office/powerpoint/2010/main" val="724342202"/>
      </p:ext>
    </p:extLst>
  </p:cSld>
</p:sld>
</file>

<file path=ppt/slides/slide4.xml><?xml version="1.0" encoding="utf-8"?>
<p:sld xmlns:p="http://schemas.openxmlformats.org/presentationml/2006/main">
  <p:cSld>
    <p:bg>
      <p:bgPr>
        <a:solidFill xmlns:a="http://schemas.openxmlformats.org/drawingml/2006/main">
          <a:srgbClr val="04050D"/>
        </a:solidFill>
      </p:bgPr>
    </p:bg>
    <p:spTree>
      <p:nvGrpSpPr>
        <p:cNvPr id="1" name=""/>
        <p:cNvGrpSpPr/>
        <p:nvPr/>
      </p:nvGrpSpPr>
      <p:grpSpPr>
        <a:xfrm xmlns:a="http://schemas.openxmlformats.org/drawingml/2006/main"/>
      </p:grpSpPr>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5abe5384dd1b4a8b"/>
          <a:stretch xmlns:a="http://schemas.openxmlformats.org/drawingml/2006/main"/>
        </p:blipFill>
        <p:spPr>
          <a:xfrm xmlns:a="http://schemas.openxmlformats.org/drawingml/2006/main">
            <a:off x="0" y="823"/>
            <a:ext cx="5734050" cy="5351405"/>
          </a:xfrm>
          <a:prstGeom xmlns:a="http://schemas.openxmlformats.org/drawingml/2006/main" prst="rect">
            <a:avLst/>
          </a:prstGeom>
        </p:spPr>
      </p:pic>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869c7999aa9844f4"/>
          <a:stretch xmlns:a="http://schemas.openxmlformats.org/drawingml/2006/main"/>
        </p:blipFill>
        <p:spPr>
          <a:xfrm xmlns:a="http://schemas.openxmlformats.org/drawingml/2006/main">
            <a:off x="6279271" y="1514475"/>
            <a:ext cx="5910433" cy="5343525"/>
          </a:xfrm>
          <a:prstGeom xmlns:a="http://schemas.openxmlformats.org/drawingml/2006/main" prst="rect">
            <a:avLst/>
          </a:prstGeom>
        </p:spPr>
      </p:pic>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c616bcf212f94d2e"/>
          <a:stretch xmlns:a="http://schemas.openxmlformats.org/drawingml/2006/main"/>
        </p:blipFill>
        <p:spPr>
          <a:xfrm xmlns:a="http://schemas.openxmlformats.org/drawingml/2006/main">
            <a:off x="5135170" y="0"/>
            <a:ext cx="7055635" cy="5819775"/>
          </a:xfrm>
          <a:prstGeom xmlns:a="http://schemas.openxmlformats.org/drawingml/2006/main" prst="rect">
            <a:avLst/>
          </a:prstGeom>
        </p:spPr>
      </p:pic>
      <p:sp>
        <p:nvSpPr>
          <p:cNvPr id="4" name="Background tint 75">
            <a:extLst xmlns:a="http://schemas.openxmlformats.org/drawingml/2006/main">
              <a:ext uri="{FF2B5EF4-FFF2-40B4-BE49-F238E27FC236}">
                <a16:creationId xmlns:a16="http://schemas.microsoft.com/office/drawing/2014/main" id="{47C6FC93-550E-4252-9163-126D336701C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oundRect">
            <a:avLst>
              <a:gd name="adj" fmla="val 0"/>
            </a:avLst>
          </a:prstGeom>
          <a:solidFill xmlns:a="http://schemas.openxmlformats.org/drawingml/2006/main">
            <a:srgbClr val="04050D">
              <a:alpha val="60000"/>
            </a:srgbClr>
          </a:solidFill>
          <a:ln xmlns:a="http://schemas.openxmlformats.org/drawingml/2006/main" w="0">
            <a:noFill/>
          </a:ln>
        </p:spPr>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474eda07eda8494c"/>
          <a:srcRect xmlns:a="http://schemas.openxmlformats.org/drawingml/2006/main" l="22705" t="0" r="22705" b="0"/>
          <a:stretch xmlns:a="http://schemas.openxmlformats.org/drawingml/2006/main">
            <a:fillRect l="0" t="0" r="0" b="0"/>
          </a:stretch>
        </p:blipFill>
        <p:spPr>
          <a:xfrm xmlns:a="http://schemas.openxmlformats.org/drawingml/2006/main">
            <a:off x="514350" y="209550"/>
            <a:ext cx="333375" cy="333375"/>
          </a:xfrm>
          <a:prstGeom xmlns:a="http://schemas.openxmlformats.org/drawingml/2006/main" prst="ellipse">
            <a:avLst/>
          </a:prstGeom>
        </p:spPr>
      </p:pic>
      <p:sp>
        <p:nvSpPr>
          <p:cNvPr id="6" name="U N M U T E 76">
            <a:extLst xmlns:a="http://schemas.openxmlformats.org/drawingml/2006/main">
              <a:ext uri="{FF2B5EF4-FFF2-40B4-BE49-F238E27FC236}">
                <a16:creationId xmlns:a16="http://schemas.microsoft.com/office/drawing/2014/main" id="{1FAE8C91-372D-46FB-9D75-042327B3CFD9}"/>
              </a:ext>
            </a:extLst>
          </p:cNvPr>
          <p:cNvSpPr>
            <a:spLocks xmlns:a="http://schemas.openxmlformats.org/drawingml/2006/main" noGrp="1"/>
          </p:cNvSpPr>
          <p:nvPr/>
        </p:nvSpPr>
        <p:spPr>
          <a:xfrm xmlns:a="http://schemas.openxmlformats.org/drawingml/2006/main">
            <a:off x="962025" y="2857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40DDFF"/>
                </a:solidFill>
                <a:latin typeface="Arial"/>
                <a:ea typeface="Arial"/>
                <a:cs typeface="Arial"/>
              </a:defRPr>
            </a:pPr>
            <a:r>
              <a:rPr sz="1050" b="1">
                <a:solidFill>
                  <a:srgbClr val="40DDFF"/>
                </a:solidFill>
                <a:latin typeface="Arial"/>
                <a:ea typeface="Arial"/>
                <a:cs typeface="Arial"/>
              </a:rPr>
              <a:t>U N M U T E</a:t>
            </a:r>
          </a:p>
        </p:txBody>
      </p:sp>
      <p:sp>
        <p:nvSpPr>
          <p:cNvPr id="7" name="04 / 06 77">
            <a:extLst xmlns:a="http://schemas.openxmlformats.org/drawingml/2006/main">
              <a:ext uri="{FF2B5EF4-FFF2-40B4-BE49-F238E27FC236}">
                <a16:creationId xmlns:a16="http://schemas.microsoft.com/office/drawing/2014/main" id="{4C5B6E8B-50DD-436D-8C0D-1DE9BC482F61}"/>
              </a:ext>
            </a:extLst>
          </p:cNvPr>
          <p:cNvSpPr>
            <a:spLocks xmlns:a="http://schemas.openxmlformats.org/drawingml/2006/main" noGrp="1"/>
          </p:cNvSpPr>
          <p:nvPr/>
        </p:nvSpPr>
        <p:spPr>
          <a:xfrm xmlns:a="http://schemas.openxmlformats.org/drawingml/2006/main">
            <a:off x="10668000" y="295275"/>
            <a:ext cx="1009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1">
                <a:solidFill>
                  <a:srgbClr val="A7B5D4"/>
                </a:solidFill>
                <a:latin typeface="Arial"/>
                <a:ea typeface="Arial"/>
                <a:cs typeface="Arial"/>
              </a:defRPr>
            </a:pPr>
            <a:r>
              <a:rPr sz="975" b="1">
                <a:solidFill>
                  <a:srgbClr val="A7B5D4"/>
                </a:solidFill>
                <a:latin typeface="Arial"/>
                <a:ea typeface="Arial"/>
                <a:cs typeface="Arial"/>
              </a:rPr>
              <a:t>04 / 06</a:t>
            </a:r>
          </a:p>
        </p:txBody>
      </p:sp>
      <p:sp>
        <p:nvSpPr>
          <p:cNvPr id="8" name="Divider 78">
            <a:extLst xmlns:a="http://schemas.openxmlformats.org/drawingml/2006/main">
              <a:ext uri="{FF2B5EF4-FFF2-40B4-BE49-F238E27FC236}">
                <a16:creationId xmlns:a16="http://schemas.microsoft.com/office/drawing/2014/main" id="{2B4F8D24-CAC0-4B66-A0CA-ECEB41082E13}"/>
              </a:ext>
            </a:extLst>
          </p:cNvPr>
          <p:cNvSpPr>
            <a:spLocks xmlns:a="http://schemas.openxmlformats.org/drawingml/2006/main" noGrp="1"/>
          </p:cNvSpPr>
          <p:nvPr/>
        </p:nvSpPr>
        <p:spPr>
          <a:xfrm xmlns:a="http://schemas.openxmlformats.org/drawingml/2006/main">
            <a:off x="533400" y="762000"/>
            <a:ext cx="438150" cy="0"/>
          </a:xfrm>
          <a:prstGeom xmlns:a="http://schemas.openxmlformats.org/drawingml/2006/main" prst="line">
            <a:avLst/>
          </a:prstGeom>
          <a:noFill xmlns:a="http://schemas.openxmlformats.org/drawingml/2006/main"/>
          <a:ln xmlns:a="http://schemas.openxmlformats.org/drawingml/2006/main" w="9525">
            <a:solidFill>
              <a:srgbClr val="40DDFF"/>
            </a:solidFill>
          </a:ln>
        </p:spPr>
      </p:sp>
      <p:sp>
        <p:nvSpPr>
          <p:cNvPr id="9" name="UNDER THE HOOD 79">
            <a:extLst xmlns:a="http://schemas.openxmlformats.org/drawingml/2006/main">
              <a:ext uri="{FF2B5EF4-FFF2-40B4-BE49-F238E27FC236}">
                <a16:creationId xmlns:a16="http://schemas.microsoft.com/office/drawing/2014/main" id="{246B0BB5-991C-4E6E-A5AE-3D0CBAB6A722}"/>
              </a:ext>
            </a:extLst>
          </p:cNvPr>
          <p:cNvSpPr>
            <a:spLocks xmlns:a="http://schemas.openxmlformats.org/drawingml/2006/main" noGrp="1"/>
          </p:cNvSpPr>
          <p:nvPr/>
        </p:nvSpPr>
        <p:spPr>
          <a:xfrm xmlns:a="http://schemas.openxmlformats.org/drawingml/2006/main">
            <a:off x="1095375" y="66675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A7B5D4"/>
                </a:solidFill>
                <a:latin typeface="Arial"/>
                <a:ea typeface="Arial"/>
                <a:cs typeface="Arial"/>
              </a:defRPr>
            </a:pPr>
            <a:r>
              <a:rPr sz="1050" b="1">
                <a:solidFill>
                  <a:srgbClr val="A7B5D4"/>
                </a:solidFill>
                <a:latin typeface="Arial"/>
                <a:ea typeface="Arial"/>
                <a:cs typeface="Arial"/>
              </a:rPr>
              <a:t>UNDER THE HOOD</a:t>
            </a:r>
          </a:p>
        </p:txBody>
      </p:sp>
      <p:sp>
        <p:nvSpPr>
          <p:cNvPr id="10" name="Technology &amp; Implementation 80">
            <a:extLst xmlns:a="http://schemas.openxmlformats.org/drawingml/2006/main">
              <a:ext uri="{FF2B5EF4-FFF2-40B4-BE49-F238E27FC236}">
                <a16:creationId xmlns:a16="http://schemas.microsoft.com/office/drawing/2014/main" id="{A97894FA-B16A-4F94-B80E-9D77B7D7150A}"/>
              </a:ext>
            </a:extLst>
          </p:cNvPr>
          <p:cNvSpPr>
            <a:spLocks xmlns:a="http://schemas.openxmlformats.org/drawingml/2006/main" noGrp="1"/>
          </p:cNvSpPr>
          <p:nvPr/>
        </p:nvSpPr>
        <p:spPr>
          <a:xfrm xmlns:a="http://schemas.openxmlformats.org/drawingml/2006/main">
            <a:off x="533400" y="971550"/>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E8EEFD"/>
                </a:solidFill>
                <a:latin typeface="Arial"/>
                <a:ea typeface="Arial"/>
                <a:cs typeface="Arial"/>
              </a:defRPr>
            </a:pPr>
            <a:r>
              <a:rPr sz="3150" b="1">
                <a:solidFill>
                  <a:srgbClr val="E8EEFD"/>
                </a:solidFill>
                <a:latin typeface="Arial"/>
                <a:ea typeface="Arial"/>
                <a:cs typeface="Arial"/>
              </a:rPr>
              <a:t>Technology &amp; </a:t>
            </a:r>
            <a:r>
              <a:rPr sz="3150" b="1">
                <a:gradFill>
                  <a:gsLst>
                    <a:gs pos="0">
                      <a:srgbClr val="40DDFF"/>
                    </a:gs>
                    <a:gs pos="50000">
                      <a:srgbClr val="9C7CFF"/>
                    </a:gs>
                    <a:gs pos="100000">
                      <a:srgbClr val="E775D2"/>
                    </a:gs>
                  </a:gsLst>
                  <a:lin ang="0"/>
                </a:gradFill>
                <a:latin typeface="Arial"/>
                <a:ea typeface="Arial"/>
                <a:cs typeface="Arial"/>
              </a:rPr>
              <a:t>Implementation</a:t>
            </a:r>
          </a:p>
        </p:txBody>
      </p:sp>
      <p:sp>
        <p:nvSpPr>
          <p:cNvPr id="11" name="R A M P A G E   /   B I T  N  B U I L D  2 81">
            <a:extLst xmlns:a="http://schemas.openxmlformats.org/drawingml/2006/main">
              <a:ext uri="{FF2B5EF4-FFF2-40B4-BE49-F238E27FC236}">
                <a16:creationId xmlns:a16="http://schemas.microsoft.com/office/drawing/2014/main" id="{1D8F3A7A-1AD5-47CE-89AD-369138566C77}"/>
              </a:ext>
            </a:extLst>
          </p:cNvPr>
          <p:cNvSpPr>
            <a:spLocks xmlns:a="http://schemas.openxmlformats.org/drawingml/2006/main" noGrp="1"/>
          </p:cNvSpPr>
          <p:nvPr/>
        </p:nvSpPr>
        <p:spPr>
          <a:xfrm xmlns:a="http://schemas.openxmlformats.org/drawingml/2006/main">
            <a:off x="533400" y="6591300"/>
            <a:ext cx="95250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50" b="0">
                <a:solidFill>
                  <a:srgbClr val="A7B5D4"/>
                </a:solidFill>
                <a:latin typeface="Arial"/>
                <a:ea typeface="Arial"/>
                <a:cs typeface="Arial"/>
              </a:defRPr>
            </a:pPr>
            <a:r>
              <a:rPr sz="750" b="0">
                <a:solidFill>
                  <a:srgbClr val="A7B5D4"/>
                </a:solidFill>
                <a:latin typeface="Arial"/>
                <a:ea typeface="Arial"/>
                <a:cs typeface="Arial"/>
              </a:rPr>
              <a:t>R A M P A G E   /   B I T  N  B U I L D  2 0 2 6</a:t>
            </a:r>
          </a:p>
        </p:txBody>
      </p:sp>
      <p:sp>
        <p:nvSpPr>
          <p:cNvPr id="12" name="Panel 82">
            <a:extLst xmlns:a="http://schemas.openxmlformats.org/drawingml/2006/main">
              <a:ext uri="{FF2B5EF4-FFF2-40B4-BE49-F238E27FC236}">
                <a16:creationId xmlns:a16="http://schemas.microsoft.com/office/drawing/2014/main" id="{03093848-05E0-4D8B-8CE1-219AD7BD8754}"/>
              </a:ext>
            </a:extLst>
          </p:cNvPr>
          <p:cNvSpPr>
            <a:spLocks xmlns:a="http://schemas.openxmlformats.org/drawingml/2006/main" noGrp="1"/>
          </p:cNvSpPr>
          <p:nvPr/>
        </p:nvSpPr>
        <p:spPr>
          <a:xfrm xmlns:a="http://schemas.openxmlformats.org/drawingml/2006/main">
            <a:off x="533400" y="1714500"/>
            <a:ext cx="11125200" cy="933450"/>
          </a:xfrm>
          <a:prstGeom xmlns:a="http://schemas.openxmlformats.org/drawingml/2006/main" prst="roundRect">
            <a:avLst>
              <a:gd name="adj" fmla="val 18367"/>
            </a:avLst>
          </a:prstGeom>
          <a:solidFill xmlns:a="http://schemas.openxmlformats.org/drawingml/2006/main">
            <a:srgbClr val="FFFFFF">
              <a:alpha val="4000"/>
            </a:srgbClr>
          </a:solidFill>
          <a:ln xmlns:a="http://schemas.openxmlformats.org/drawingml/2006/main" w="6668">
            <a:solidFill>
              <a:srgbClr val="414451"/>
            </a:solidFill>
          </a:ln>
        </p:spPr>
      </p:sp>
      <p:sp>
        <p:nvSpPr>
          <p:cNvPr id="13" name="TECH STACK 83">
            <a:extLst xmlns:a="http://schemas.openxmlformats.org/drawingml/2006/main">
              <a:ext uri="{FF2B5EF4-FFF2-40B4-BE49-F238E27FC236}">
                <a16:creationId xmlns:a16="http://schemas.microsoft.com/office/drawing/2014/main" id="{2BBB708B-3514-403D-B3C9-2C100D0F8FF4}"/>
              </a:ext>
            </a:extLst>
          </p:cNvPr>
          <p:cNvSpPr>
            <a:spLocks xmlns:a="http://schemas.openxmlformats.org/drawingml/2006/main" noGrp="1"/>
          </p:cNvSpPr>
          <p:nvPr/>
        </p:nvSpPr>
        <p:spPr>
          <a:xfrm xmlns:a="http://schemas.openxmlformats.org/drawingml/2006/main">
            <a:off x="762000" y="1914525"/>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40DDFF"/>
                </a:solidFill>
                <a:latin typeface="Arial"/>
                <a:ea typeface="Arial"/>
                <a:cs typeface="Arial"/>
              </a:defRPr>
            </a:pPr>
            <a:r>
              <a:rPr sz="1050" b="1">
                <a:solidFill>
                  <a:srgbClr val="40DDFF"/>
                </a:solidFill>
                <a:latin typeface="Arial"/>
                <a:ea typeface="Arial"/>
                <a:cs typeface="Arial"/>
              </a:rPr>
              <a:t>TECH STACK</a:t>
            </a:r>
          </a:p>
        </p:txBody>
      </p:sp>
      <p:sp>
        <p:nvSpPr>
          <p:cNvPr id="14" name="Next.js   /   TypeScript   /   Tailwind CS 84">
            <a:extLst xmlns:a="http://schemas.openxmlformats.org/drawingml/2006/main">
              <a:ext uri="{FF2B5EF4-FFF2-40B4-BE49-F238E27FC236}">
                <a16:creationId xmlns:a16="http://schemas.microsoft.com/office/drawing/2014/main" id="{D4DCF85D-6BD6-4FFE-BA2B-9E03B7A52485}"/>
              </a:ext>
            </a:extLst>
          </p:cNvPr>
          <p:cNvSpPr>
            <a:spLocks xmlns:a="http://schemas.openxmlformats.org/drawingml/2006/main" noGrp="1"/>
          </p:cNvSpPr>
          <p:nvPr/>
        </p:nvSpPr>
        <p:spPr>
          <a:xfrm xmlns:a="http://schemas.openxmlformats.org/drawingml/2006/main">
            <a:off x="762000" y="222885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E8EEFD"/>
                </a:solidFill>
                <a:latin typeface="Arial"/>
                <a:ea typeface="Arial"/>
                <a:cs typeface="Arial"/>
              </a:defRPr>
            </a:pPr>
            <a:r>
              <a:rPr sz="1425" b="0">
                <a:solidFill>
                  <a:srgbClr val="E8EEFD"/>
                </a:solidFill>
                <a:latin typeface="Arial"/>
                <a:ea typeface="Arial"/>
                <a:cs typeface="Arial"/>
              </a:rPr>
              <a:t>Next.js   /   TypeScript   /   Tailwind CSS   /   Three.js   /   Groq + OpenAI   /   Supadata   /   Supabase   /   Vercel</a:t>
            </a:r>
          </a:p>
        </p:txBody>
      </p:sp>
      <p:sp>
        <p:nvSpPr>
          <p:cNvPr id="15" name="Panel 85">
            <a:extLst xmlns:a="http://schemas.openxmlformats.org/drawingml/2006/main">
              <a:ext uri="{FF2B5EF4-FFF2-40B4-BE49-F238E27FC236}">
                <a16:creationId xmlns:a16="http://schemas.microsoft.com/office/drawing/2014/main" id="{2965EAF5-9303-4732-8B81-1E2FF82852C0}"/>
              </a:ext>
            </a:extLst>
          </p:cNvPr>
          <p:cNvSpPr>
            <a:spLocks xmlns:a="http://schemas.openxmlformats.org/drawingml/2006/main" noGrp="1"/>
          </p:cNvSpPr>
          <p:nvPr/>
        </p:nvSpPr>
        <p:spPr>
          <a:xfrm xmlns:a="http://schemas.openxmlformats.org/drawingml/2006/main">
            <a:off x="533400" y="2838450"/>
            <a:ext cx="11125200" cy="1543050"/>
          </a:xfrm>
          <a:prstGeom xmlns:a="http://schemas.openxmlformats.org/drawingml/2006/main" prst="roundRect">
            <a:avLst>
              <a:gd name="adj" fmla="val 11111"/>
            </a:avLst>
          </a:prstGeom>
          <a:solidFill xmlns:a="http://schemas.openxmlformats.org/drawingml/2006/main">
            <a:srgbClr val="FFFFFF">
              <a:alpha val="4000"/>
            </a:srgbClr>
          </a:solidFill>
          <a:ln xmlns:a="http://schemas.openxmlformats.org/drawingml/2006/main" w="6668">
            <a:solidFill>
              <a:srgbClr val="414451"/>
            </a:solidFill>
          </a:ln>
        </p:spPr>
      </p:sp>
      <p:sp>
        <p:nvSpPr>
          <p:cNvPr id="16" name="SYSTEM ARCHITECTURE &amp; DATA FLOW 86">
            <a:extLst xmlns:a="http://schemas.openxmlformats.org/drawingml/2006/main">
              <a:ext uri="{FF2B5EF4-FFF2-40B4-BE49-F238E27FC236}">
                <a16:creationId xmlns:a16="http://schemas.microsoft.com/office/drawing/2014/main" id="{3FB4E4E2-889C-44C9-8EEE-01AF3C7858F1}"/>
              </a:ext>
            </a:extLst>
          </p:cNvPr>
          <p:cNvSpPr>
            <a:spLocks xmlns:a="http://schemas.openxmlformats.org/drawingml/2006/main" noGrp="1"/>
          </p:cNvSpPr>
          <p:nvPr/>
        </p:nvSpPr>
        <p:spPr>
          <a:xfrm xmlns:a="http://schemas.openxmlformats.org/drawingml/2006/main">
            <a:off x="762000" y="3038475"/>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40DDFF"/>
                </a:solidFill>
                <a:latin typeface="Arial"/>
                <a:ea typeface="Arial"/>
                <a:cs typeface="Arial"/>
              </a:defRPr>
            </a:pPr>
            <a:r>
              <a:rPr sz="1050" b="1">
                <a:solidFill>
                  <a:srgbClr val="40DDFF"/>
                </a:solidFill>
                <a:latin typeface="Arial"/>
                <a:ea typeface="Arial"/>
                <a:cs typeface="Arial"/>
              </a:rPr>
              <a:t>SYSTEM ARCHITECTURE &amp; DATA FLOW</a:t>
            </a:r>
          </a:p>
        </p:txBody>
      </p:sp>
      <p:sp>
        <p:nvSpPr>
          <p:cNvPr id="17" name="Architecture step 1 87">
            <a:extLst xmlns:a="http://schemas.openxmlformats.org/drawingml/2006/main">
              <a:ext uri="{FF2B5EF4-FFF2-40B4-BE49-F238E27FC236}">
                <a16:creationId xmlns:a16="http://schemas.microsoft.com/office/drawing/2014/main" id="{A4343BB6-607D-4522-A414-BAF9F5B5D0AF}"/>
              </a:ext>
            </a:extLst>
          </p:cNvPr>
          <p:cNvSpPr>
            <a:spLocks xmlns:a="http://schemas.openxmlformats.org/drawingml/2006/main" noGrp="1"/>
          </p:cNvSpPr>
          <p:nvPr/>
        </p:nvSpPr>
        <p:spPr>
          <a:xfrm xmlns:a="http://schemas.openxmlformats.org/drawingml/2006/main">
            <a:off x="762000" y="3390900"/>
            <a:ext cx="1943100" cy="733425"/>
          </a:xfrm>
          <a:prstGeom xmlns:a="http://schemas.openxmlformats.org/drawingml/2006/main" prst="roundRect">
            <a:avLst>
              <a:gd name="adj" fmla="val 16883"/>
            </a:avLst>
          </a:prstGeom>
          <a:solidFill xmlns:a="http://schemas.openxmlformats.org/drawingml/2006/main">
            <a:srgbClr val="64AAE3">
              <a:alpha val="9000"/>
            </a:srgbClr>
          </a:solidFill>
          <a:ln xmlns:a="http://schemas.openxmlformats.org/drawingml/2006/main" w="6668">
            <a:solidFill>
              <a:srgbClr val="525264"/>
            </a:solidFill>
          </a:ln>
        </p:spPr>
      </p:sp>
      <p:sp>
        <p:nvSpPr>
          <p:cNvPr id="18" name="Media or&#10;selected live audio 88">
            <a:extLst xmlns:a="http://schemas.openxmlformats.org/drawingml/2006/main">
              <a:ext uri="{FF2B5EF4-FFF2-40B4-BE49-F238E27FC236}">
                <a16:creationId xmlns:a16="http://schemas.microsoft.com/office/drawing/2014/main" id="{74DC024F-33D3-41DA-81E9-7001BA8E3646}"/>
              </a:ext>
            </a:extLst>
          </p:cNvPr>
          <p:cNvSpPr>
            <a:spLocks xmlns:a="http://schemas.openxmlformats.org/drawingml/2006/main" noGrp="1"/>
          </p:cNvSpPr>
          <p:nvPr/>
        </p:nvSpPr>
        <p:spPr>
          <a:xfrm xmlns:a="http://schemas.openxmlformats.org/drawingml/2006/main">
            <a:off x="857250" y="3571875"/>
            <a:ext cx="1752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425" b="1">
                <a:solidFill>
                  <a:srgbClr val="E8EEFD"/>
                </a:solidFill>
                <a:latin typeface="Arial"/>
                <a:ea typeface="Arial"/>
                <a:cs typeface="Arial"/>
              </a:defRPr>
            </a:pPr>
            <a:r>
              <a:rPr sz="1425" b="1">
                <a:solidFill>
                  <a:srgbClr val="E8EEFD"/>
                </a:solidFill>
                <a:latin typeface="Arial"/>
                <a:ea typeface="Arial"/>
                <a:cs typeface="Arial"/>
              </a:rPr>
              <a:t>Media or</a:t>
            </a:r>
          </a:p>
          <a:p xmlns:a="http://schemas.openxmlformats.org/drawingml/2006/main">
            <a:pPr algn="ctr">
              <a:defRPr sz="1425" b="1">
                <a:solidFill>
                  <a:srgbClr val="E8EEFD"/>
                </a:solidFill>
                <a:latin typeface="Arial"/>
                <a:ea typeface="Arial"/>
                <a:cs typeface="Arial"/>
              </a:defRPr>
            </a:pPr>
            <a:r>
              <a:rPr sz="1425" b="1">
                <a:solidFill>
                  <a:srgbClr val="E8EEFD"/>
                </a:solidFill>
                <a:latin typeface="Arial"/>
                <a:ea typeface="Arial"/>
                <a:cs typeface="Arial"/>
              </a:rPr>
              <a:t>selected live audio</a:t>
            </a:r>
          </a:p>
        </p:txBody>
      </p:sp>
      <p:sp>
        <p:nvSpPr>
          <p:cNvPr id="19" name="Architecture step 2 89">
            <a:extLst xmlns:a="http://schemas.openxmlformats.org/drawingml/2006/main">
              <a:ext uri="{FF2B5EF4-FFF2-40B4-BE49-F238E27FC236}">
                <a16:creationId xmlns:a16="http://schemas.microsoft.com/office/drawing/2014/main" id="{8C6AEAC7-32CB-49B9-80D3-82A501D5907B}"/>
              </a:ext>
            </a:extLst>
          </p:cNvPr>
          <p:cNvSpPr>
            <a:spLocks xmlns:a="http://schemas.openxmlformats.org/drawingml/2006/main" noGrp="1"/>
          </p:cNvSpPr>
          <p:nvPr/>
        </p:nvSpPr>
        <p:spPr>
          <a:xfrm xmlns:a="http://schemas.openxmlformats.org/drawingml/2006/main">
            <a:off x="2933700" y="3390900"/>
            <a:ext cx="1943100" cy="733425"/>
          </a:xfrm>
          <a:prstGeom xmlns:a="http://schemas.openxmlformats.org/drawingml/2006/main" prst="roundRect">
            <a:avLst>
              <a:gd name="adj" fmla="val 16883"/>
            </a:avLst>
          </a:prstGeom>
          <a:solidFill xmlns:a="http://schemas.openxmlformats.org/drawingml/2006/main">
            <a:srgbClr val="64AAE3">
              <a:alpha val="9000"/>
            </a:srgbClr>
          </a:solidFill>
          <a:ln xmlns:a="http://schemas.openxmlformats.org/drawingml/2006/main" w="6668">
            <a:solidFill>
              <a:srgbClr val="525264"/>
            </a:solidFill>
          </a:ln>
        </p:spPr>
      </p:sp>
      <p:sp>
        <p:nvSpPr>
          <p:cNvPr id="20" name="Timed&#10;transcript 90">
            <a:extLst xmlns:a="http://schemas.openxmlformats.org/drawingml/2006/main">
              <a:ext uri="{FF2B5EF4-FFF2-40B4-BE49-F238E27FC236}">
                <a16:creationId xmlns:a16="http://schemas.microsoft.com/office/drawing/2014/main" id="{D7363333-E0CD-4172-B288-24B3B5374A0A}"/>
              </a:ext>
            </a:extLst>
          </p:cNvPr>
          <p:cNvSpPr>
            <a:spLocks xmlns:a="http://schemas.openxmlformats.org/drawingml/2006/main" noGrp="1"/>
          </p:cNvSpPr>
          <p:nvPr/>
        </p:nvSpPr>
        <p:spPr>
          <a:xfrm xmlns:a="http://schemas.openxmlformats.org/drawingml/2006/main">
            <a:off x="3028950" y="3571875"/>
            <a:ext cx="1752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425" b="1">
                <a:solidFill>
                  <a:srgbClr val="E8EEFD"/>
                </a:solidFill>
                <a:latin typeface="Arial"/>
                <a:ea typeface="Arial"/>
                <a:cs typeface="Arial"/>
              </a:defRPr>
            </a:pPr>
            <a:r>
              <a:rPr sz="1425" b="1">
                <a:solidFill>
                  <a:srgbClr val="E8EEFD"/>
                </a:solidFill>
                <a:latin typeface="Arial"/>
                <a:ea typeface="Arial"/>
                <a:cs typeface="Arial"/>
              </a:rPr>
              <a:t>Timed</a:t>
            </a:r>
          </a:p>
          <a:p xmlns:a="http://schemas.openxmlformats.org/drawingml/2006/main">
            <a:pPr algn="ctr">
              <a:defRPr sz="1425" b="1">
                <a:solidFill>
                  <a:srgbClr val="E8EEFD"/>
                </a:solidFill>
                <a:latin typeface="Arial"/>
                <a:ea typeface="Arial"/>
                <a:cs typeface="Arial"/>
              </a:defRPr>
            </a:pPr>
            <a:r>
              <a:rPr sz="1425" b="1">
                <a:solidFill>
                  <a:srgbClr val="E8EEFD"/>
                </a:solidFill>
                <a:latin typeface="Arial"/>
                <a:ea typeface="Arial"/>
                <a:cs typeface="Arial"/>
              </a:rPr>
              <a:t>transcript</a:t>
            </a:r>
          </a:p>
        </p:txBody>
      </p:sp>
      <p:sp>
        <p:nvSpPr>
          <p:cNvPr id="21" name="Architecture step 3 91">
            <a:extLst xmlns:a="http://schemas.openxmlformats.org/drawingml/2006/main">
              <a:ext uri="{FF2B5EF4-FFF2-40B4-BE49-F238E27FC236}">
                <a16:creationId xmlns:a16="http://schemas.microsoft.com/office/drawing/2014/main" id="{F051C76F-1E03-4AA0-ABC9-8CB05D928951}"/>
              </a:ext>
            </a:extLst>
          </p:cNvPr>
          <p:cNvSpPr>
            <a:spLocks xmlns:a="http://schemas.openxmlformats.org/drawingml/2006/main" noGrp="1"/>
          </p:cNvSpPr>
          <p:nvPr/>
        </p:nvSpPr>
        <p:spPr>
          <a:xfrm xmlns:a="http://schemas.openxmlformats.org/drawingml/2006/main">
            <a:off x="5105400" y="3390900"/>
            <a:ext cx="1943100" cy="733425"/>
          </a:xfrm>
          <a:prstGeom xmlns:a="http://schemas.openxmlformats.org/drawingml/2006/main" prst="roundRect">
            <a:avLst>
              <a:gd name="adj" fmla="val 16883"/>
            </a:avLst>
          </a:prstGeom>
          <a:solidFill xmlns:a="http://schemas.openxmlformats.org/drawingml/2006/main">
            <a:srgbClr val="64AAE3">
              <a:alpha val="9000"/>
            </a:srgbClr>
          </a:solidFill>
          <a:ln xmlns:a="http://schemas.openxmlformats.org/drawingml/2006/main" w="6668">
            <a:solidFill>
              <a:srgbClr val="525264"/>
            </a:solidFill>
          </a:ln>
        </p:spPr>
      </p:sp>
      <p:sp>
        <p:nvSpPr>
          <p:cNvPr id="22" name="ASL gloss +&#10;contextual cues 92">
            <a:extLst xmlns:a="http://schemas.openxmlformats.org/drawingml/2006/main">
              <a:ext uri="{FF2B5EF4-FFF2-40B4-BE49-F238E27FC236}">
                <a16:creationId xmlns:a16="http://schemas.microsoft.com/office/drawing/2014/main" id="{7EC8C14D-DF3C-49EE-B09D-A725766DAFA4}"/>
              </a:ext>
            </a:extLst>
          </p:cNvPr>
          <p:cNvSpPr>
            <a:spLocks xmlns:a="http://schemas.openxmlformats.org/drawingml/2006/main" noGrp="1"/>
          </p:cNvSpPr>
          <p:nvPr/>
        </p:nvSpPr>
        <p:spPr>
          <a:xfrm xmlns:a="http://schemas.openxmlformats.org/drawingml/2006/main">
            <a:off x="5200650" y="3571875"/>
            <a:ext cx="1752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425" b="1">
                <a:solidFill>
                  <a:srgbClr val="E8EEFD"/>
                </a:solidFill>
                <a:latin typeface="Arial"/>
                <a:ea typeface="Arial"/>
                <a:cs typeface="Arial"/>
              </a:defRPr>
            </a:pPr>
            <a:r>
              <a:rPr sz="1425" b="1">
                <a:solidFill>
                  <a:srgbClr val="E8EEFD"/>
                </a:solidFill>
                <a:latin typeface="Arial"/>
                <a:ea typeface="Arial"/>
                <a:cs typeface="Arial"/>
              </a:rPr>
              <a:t>ASL gloss +</a:t>
            </a:r>
          </a:p>
          <a:p xmlns:a="http://schemas.openxmlformats.org/drawingml/2006/main">
            <a:pPr algn="ctr">
              <a:defRPr sz="1425" b="1">
                <a:solidFill>
                  <a:srgbClr val="E8EEFD"/>
                </a:solidFill>
                <a:latin typeface="Arial"/>
                <a:ea typeface="Arial"/>
                <a:cs typeface="Arial"/>
              </a:defRPr>
            </a:pPr>
            <a:r>
              <a:rPr sz="1425" b="1">
                <a:solidFill>
                  <a:srgbClr val="E8EEFD"/>
                </a:solidFill>
                <a:latin typeface="Arial"/>
                <a:ea typeface="Arial"/>
                <a:cs typeface="Arial"/>
              </a:rPr>
              <a:t>contextual cues</a:t>
            </a:r>
          </a:p>
        </p:txBody>
      </p:sp>
      <p:sp>
        <p:nvSpPr>
          <p:cNvPr id="23" name="Architecture step 4 93">
            <a:extLst xmlns:a="http://schemas.openxmlformats.org/drawingml/2006/main">
              <a:ext uri="{FF2B5EF4-FFF2-40B4-BE49-F238E27FC236}">
                <a16:creationId xmlns:a16="http://schemas.microsoft.com/office/drawing/2014/main" id="{2B594315-6D54-4A34-A8E0-FD5C20D9B452}"/>
              </a:ext>
            </a:extLst>
          </p:cNvPr>
          <p:cNvSpPr>
            <a:spLocks xmlns:a="http://schemas.openxmlformats.org/drawingml/2006/main" noGrp="1"/>
          </p:cNvSpPr>
          <p:nvPr/>
        </p:nvSpPr>
        <p:spPr>
          <a:xfrm xmlns:a="http://schemas.openxmlformats.org/drawingml/2006/main">
            <a:off x="7277100" y="3390900"/>
            <a:ext cx="1943100" cy="733425"/>
          </a:xfrm>
          <a:prstGeom xmlns:a="http://schemas.openxmlformats.org/drawingml/2006/main" prst="roundRect">
            <a:avLst>
              <a:gd name="adj" fmla="val 16883"/>
            </a:avLst>
          </a:prstGeom>
          <a:solidFill xmlns:a="http://schemas.openxmlformats.org/drawingml/2006/main">
            <a:srgbClr val="64AAE3">
              <a:alpha val="9000"/>
            </a:srgbClr>
          </a:solidFill>
          <a:ln xmlns:a="http://schemas.openxmlformats.org/drawingml/2006/main" w="6668">
            <a:solidFill>
              <a:srgbClr val="525264"/>
            </a:solidFill>
          </a:ln>
        </p:spPr>
      </p:sp>
      <p:sp>
        <p:nvSpPr>
          <p:cNvPr id="24" name="SiGML +&#10;motion plan 94">
            <a:extLst xmlns:a="http://schemas.openxmlformats.org/drawingml/2006/main">
              <a:ext uri="{FF2B5EF4-FFF2-40B4-BE49-F238E27FC236}">
                <a16:creationId xmlns:a16="http://schemas.microsoft.com/office/drawing/2014/main" id="{3385583E-6926-4046-8D51-F88DBD02FAE7}"/>
              </a:ext>
            </a:extLst>
          </p:cNvPr>
          <p:cNvSpPr>
            <a:spLocks xmlns:a="http://schemas.openxmlformats.org/drawingml/2006/main" noGrp="1"/>
          </p:cNvSpPr>
          <p:nvPr/>
        </p:nvSpPr>
        <p:spPr>
          <a:xfrm xmlns:a="http://schemas.openxmlformats.org/drawingml/2006/main">
            <a:off x="7372350" y="3571875"/>
            <a:ext cx="1752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425" b="1">
                <a:solidFill>
                  <a:srgbClr val="E8EEFD"/>
                </a:solidFill>
                <a:latin typeface="Arial"/>
                <a:ea typeface="Arial"/>
                <a:cs typeface="Arial"/>
              </a:defRPr>
            </a:pPr>
            <a:r>
              <a:rPr sz="1425" b="1">
                <a:solidFill>
                  <a:srgbClr val="E8EEFD"/>
                </a:solidFill>
                <a:latin typeface="Arial"/>
                <a:ea typeface="Arial"/>
                <a:cs typeface="Arial"/>
              </a:rPr>
              <a:t>SiGML +</a:t>
            </a:r>
          </a:p>
          <a:p xmlns:a="http://schemas.openxmlformats.org/drawingml/2006/main">
            <a:pPr algn="ctr">
              <a:defRPr sz="1425" b="1">
                <a:solidFill>
                  <a:srgbClr val="E8EEFD"/>
                </a:solidFill>
                <a:latin typeface="Arial"/>
                <a:ea typeface="Arial"/>
                <a:cs typeface="Arial"/>
              </a:defRPr>
            </a:pPr>
            <a:r>
              <a:rPr sz="1425" b="1">
                <a:solidFill>
                  <a:srgbClr val="E8EEFD"/>
                </a:solidFill>
                <a:latin typeface="Arial"/>
                <a:ea typeface="Arial"/>
                <a:cs typeface="Arial"/>
              </a:rPr>
              <a:t>motion plan</a:t>
            </a:r>
          </a:p>
        </p:txBody>
      </p:sp>
      <p:sp>
        <p:nvSpPr>
          <p:cNvPr id="25" name="Architecture step 5 95">
            <a:extLst xmlns:a="http://schemas.openxmlformats.org/drawingml/2006/main">
              <a:ext uri="{FF2B5EF4-FFF2-40B4-BE49-F238E27FC236}">
                <a16:creationId xmlns:a16="http://schemas.microsoft.com/office/drawing/2014/main" id="{178CA118-032A-483A-91E0-0A65584BF101}"/>
              </a:ext>
            </a:extLst>
          </p:cNvPr>
          <p:cNvSpPr>
            <a:spLocks xmlns:a="http://schemas.openxmlformats.org/drawingml/2006/main" noGrp="1"/>
          </p:cNvSpPr>
          <p:nvPr/>
        </p:nvSpPr>
        <p:spPr>
          <a:xfrm xmlns:a="http://schemas.openxmlformats.org/drawingml/2006/main">
            <a:off x="9448800" y="3390900"/>
            <a:ext cx="1943100" cy="733425"/>
          </a:xfrm>
          <a:prstGeom xmlns:a="http://schemas.openxmlformats.org/drawingml/2006/main" prst="roundRect">
            <a:avLst>
              <a:gd name="adj" fmla="val 16883"/>
            </a:avLst>
          </a:prstGeom>
          <a:solidFill xmlns:a="http://schemas.openxmlformats.org/drawingml/2006/main">
            <a:srgbClr val="64AAE3">
              <a:alpha val="9000"/>
            </a:srgbClr>
          </a:solidFill>
          <a:ln xmlns:a="http://schemas.openxmlformats.org/drawingml/2006/main" w="6668">
            <a:solidFill>
              <a:srgbClr val="525264"/>
            </a:solidFill>
          </a:ln>
        </p:spPr>
      </p:sp>
      <p:sp>
        <p:nvSpPr>
          <p:cNvPr id="26" name="NEXA&#10;3D renderer 96">
            <a:extLst xmlns:a="http://schemas.openxmlformats.org/drawingml/2006/main">
              <a:ext uri="{FF2B5EF4-FFF2-40B4-BE49-F238E27FC236}">
                <a16:creationId xmlns:a16="http://schemas.microsoft.com/office/drawing/2014/main" id="{99FB5AA5-28CF-47B4-B4BC-D5C80ABD102B}"/>
              </a:ext>
            </a:extLst>
          </p:cNvPr>
          <p:cNvSpPr>
            <a:spLocks xmlns:a="http://schemas.openxmlformats.org/drawingml/2006/main" noGrp="1"/>
          </p:cNvSpPr>
          <p:nvPr/>
        </p:nvSpPr>
        <p:spPr>
          <a:xfrm xmlns:a="http://schemas.openxmlformats.org/drawingml/2006/main">
            <a:off x="9544050" y="3571875"/>
            <a:ext cx="1752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425" b="1">
                <a:solidFill>
                  <a:srgbClr val="E8EEFD"/>
                </a:solidFill>
                <a:latin typeface="Arial"/>
                <a:ea typeface="Arial"/>
                <a:cs typeface="Arial"/>
              </a:defRPr>
            </a:pPr>
            <a:r>
              <a:rPr sz="1425" b="1">
                <a:solidFill>
                  <a:srgbClr val="E8EEFD"/>
                </a:solidFill>
                <a:latin typeface="Arial"/>
                <a:ea typeface="Arial"/>
                <a:cs typeface="Arial"/>
              </a:rPr>
              <a:t>NEXA</a:t>
            </a:r>
          </a:p>
          <a:p xmlns:a="http://schemas.openxmlformats.org/drawingml/2006/main">
            <a:pPr algn="ctr">
              <a:defRPr sz="1425" b="1">
                <a:solidFill>
                  <a:srgbClr val="E8EEFD"/>
                </a:solidFill>
                <a:latin typeface="Arial"/>
                <a:ea typeface="Arial"/>
                <a:cs typeface="Arial"/>
              </a:defRPr>
            </a:pPr>
            <a:r>
              <a:rPr sz="1425" b="1">
                <a:solidFill>
                  <a:srgbClr val="E8EEFD"/>
                </a:solidFill>
                <a:latin typeface="Arial"/>
                <a:ea typeface="Arial"/>
                <a:cs typeface="Arial"/>
              </a:rPr>
              <a:t>3D renderer</a:t>
            </a:r>
          </a:p>
        </p:txBody>
      </p:sp>
      <p:cxnSp>
        <p:nvCxnSpPr>
          <p:cNvPr id="63" name=""/>
          <p:cNvCxnSpPr>
            <a:stCxn xmlns:a="http://schemas.openxmlformats.org/drawingml/2006/main" id="17" idx="3"/>
            <a:endCxn xmlns:a="http://schemas.openxmlformats.org/drawingml/2006/main" id="19" idx="1"/>
          </p:cNvCxnSpPr>
          <p:nvPr/>
        </p:nvCxnSpPr>
        <p:spPr>
          <a:xfrm xmlns:a="http://schemas.openxmlformats.org/drawingml/2006/main">
            <a:off x="2705100" y="3757613"/>
            <a:ext cx="228600" cy="0"/>
          </a:xfrm>
          <a:prstGeom xmlns:a="http://schemas.openxmlformats.org/drawingml/2006/main" prst="straightConnector1">
            <a:avLst/>
          </a:prstGeom>
          <a:ln xmlns:a="http://schemas.openxmlformats.org/drawingml/2006/main" w="14288">
            <a:solidFill>
              <a:srgbClr val="9C7CFF"/>
            </a:solidFill>
            <a:tailEnd type="triangle" w="sm" len="sm"/>
          </a:ln>
        </p:spPr>
      </p:cxnSp>
      <p:cxnSp>
        <p:nvCxnSpPr>
          <p:cNvPr id="64" name=""/>
          <p:cNvCxnSpPr>
            <a:stCxn xmlns:a="http://schemas.openxmlformats.org/drawingml/2006/main" id="19" idx="3"/>
            <a:endCxn xmlns:a="http://schemas.openxmlformats.org/drawingml/2006/main" id="21" idx="1"/>
          </p:cNvCxnSpPr>
          <p:nvPr/>
        </p:nvCxnSpPr>
        <p:spPr>
          <a:xfrm xmlns:a="http://schemas.openxmlformats.org/drawingml/2006/main">
            <a:off x="4876800" y="3757613"/>
            <a:ext cx="228600" cy="0"/>
          </a:xfrm>
          <a:prstGeom xmlns:a="http://schemas.openxmlformats.org/drawingml/2006/main" prst="straightConnector1">
            <a:avLst/>
          </a:prstGeom>
          <a:ln xmlns:a="http://schemas.openxmlformats.org/drawingml/2006/main" w="14288">
            <a:solidFill>
              <a:srgbClr val="9C7CFF"/>
            </a:solidFill>
            <a:tailEnd type="triangle" w="sm" len="sm"/>
          </a:ln>
        </p:spPr>
      </p:cxnSp>
      <p:cxnSp>
        <p:nvCxnSpPr>
          <p:cNvPr id="65" name=""/>
          <p:cNvCxnSpPr>
            <a:stCxn xmlns:a="http://schemas.openxmlformats.org/drawingml/2006/main" id="21" idx="3"/>
            <a:endCxn xmlns:a="http://schemas.openxmlformats.org/drawingml/2006/main" id="23" idx="1"/>
          </p:cNvCxnSpPr>
          <p:nvPr/>
        </p:nvCxnSpPr>
        <p:spPr>
          <a:xfrm xmlns:a="http://schemas.openxmlformats.org/drawingml/2006/main">
            <a:off x="7048500" y="3757613"/>
            <a:ext cx="228600" cy="0"/>
          </a:xfrm>
          <a:prstGeom xmlns:a="http://schemas.openxmlformats.org/drawingml/2006/main" prst="straightConnector1">
            <a:avLst/>
          </a:prstGeom>
          <a:ln xmlns:a="http://schemas.openxmlformats.org/drawingml/2006/main" w="14288">
            <a:solidFill>
              <a:srgbClr val="9C7CFF"/>
            </a:solidFill>
            <a:tailEnd type="triangle" w="sm" len="sm"/>
          </a:ln>
        </p:spPr>
      </p:cxnSp>
      <p:cxnSp>
        <p:nvCxnSpPr>
          <p:cNvPr id="66" name=""/>
          <p:cNvCxnSpPr>
            <a:stCxn xmlns:a="http://schemas.openxmlformats.org/drawingml/2006/main" id="23" idx="3"/>
            <a:endCxn xmlns:a="http://schemas.openxmlformats.org/drawingml/2006/main" id="25" idx="1"/>
          </p:cNvCxnSpPr>
          <p:nvPr/>
        </p:nvCxnSpPr>
        <p:spPr>
          <a:xfrm xmlns:a="http://schemas.openxmlformats.org/drawingml/2006/main">
            <a:off x="9220200" y="3757613"/>
            <a:ext cx="228600" cy="0"/>
          </a:xfrm>
          <a:prstGeom xmlns:a="http://schemas.openxmlformats.org/drawingml/2006/main" prst="straightConnector1">
            <a:avLst/>
          </a:prstGeom>
          <a:ln xmlns:a="http://schemas.openxmlformats.org/drawingml/2006/main" w="14288">
            <a:solidFill>
              <a:srgbClr val="9C7CFF"/>
            </a:solidFill>
            <a:tailEnd type="triangle" w="sm" len="sm"/>
          </a:ln>
        </p:spPr>
      </p:cxnSp>
      <p:sp>
        <p:nvSpPr>
          <p:cNvPr id="31" name="Panel 97">
            <a:extLst xmlns:a="http://schemas.openxmlformats.org/drawingml/2006/main">
              <a:ext uri="{FF2B5EF4-FFF2-40B4-BE49-F238E27FC236}">
                <a16:creationId xmlns:a16="http://schemas.microsoft.com/office/drawing/2014/main" id="{2D757875-9177-4D89-BD2B-C29C9FDB3A7F}"/>
              </a:ext>
            </a:extLst>
          </p:cNvPr>
          <p:cNvSpPr>
            <a:spLocks xmlns:a="http://schemas.openxmlformats.org/drawingml/2006/main" noGrp="1"/>
          </p:cNvSpPr>
          <p:nvPr/>
        </p:nvSpPr>
        <p:spPr>
          <a:xfrm xmlns:a="http://schemas.openxmlformats.org/drawingml/2006/main">
            <a:off x="533400" y="4572000"/>
            <a:ext cx="5457825" cy="1790700"/>
          </a:xfrm>
          <a:prstGeom xmlns:a="http://schemas.openxmlformats.org/drawingml/2006/main" prst="roundRect">
            <a:avLst>
              <a:gd name="adj" fmla="val 9574"/>
            </a:avLst>
          </a:prstGeom>
          <a:solidFill xmlns:a="http://schemas.openxmlformats.org/drawingml/2006/main">
            <a:srgbClr val="FFFFFF">
              <a:alpha val="4000"/>
            </a:srgbClr>
          </a:solidFill>
          <a:ln xmlns:a="http://schemas.openxmlformats.org/drawingml/2006/main" w="6668">
            <a:solidFill>
              <a:srgbClr val="414451"/>
            </a:solidFill>
          </a:ln>
        </p:spPr>
      </p:sp>
      <p:sp>
        <p:nvSpPr>
          <p:cNvPr id="32" name="AI / ML COMPONENTS 98">
            <a:extLst xmlns:a="http://schemas.openxmlformats.org/drawingml/2006/main">
              <a:ext uri="{FF2B5EF4-FFF2-40B4-BE49-F238E27FC236}">
                <a16:creationId xmlns:a16="http://schemas.microsoft.com/office/drawing/2014/main" id="{E65FBEE6-87EE-4693-9F1F-9F3B1DDE637E}"/>
              </a:ext>
            </a:extLst>
          </p:cNvPr>
          <p:cNvSpPr>
            <a:spLocks xmlns:a="http://schemas.openxmlformats.org/drawingml/2006/main" noGrp="1"/>
          </p:cNvSpPr>
          <p:nvPr/>
        </p:nvSpPr>
        <p:spPr>
          <a:xfrm xmlns:a="http://schemas.openxmlformats.org/drawingml/2006/main">
            <a:off x="762000" y="4772025"/>
            <a:ext cx="500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40DDFF"/>
                </a:solidFill>
                <a:latin typeface="Arial"/>
                <a:ea typeface="Arial"/>
                <a:cs typeface="Arial"/>
              </a:defRPr>
            </a:pPr>
            <a:r>
              <a:rPr sz="1050" b="1">
                <a:solidFill>
                  <a:srgbClr val="40DDFF"/>
                </a:solidFill>
                <a:latin typeface="Arial"/>
                <a:ea typeface="Arial"/>
                <a:cs typeface="Arial"/>
              </a:rPr>
              <a:t>AI / ML COMPONENTS</a:t>
            </a:r>
          </a:p>
        </p:txBody>
      </p:sp>
      <p:sp>
        <p:nvSpPr>
          <p:cNvPr id="33" name="Whisper transcribes speech. AI-assisted gl 99">
            <a:extLst xmlns:a="http://schemas.openxmlformats.org/drawingml/2006/main">
              <a:ext uri="{FF2B5EF4-FFF2-40B4-BE49-F238E27FC236}">
                <a16:creationId xmlns:a16="http://schemas.microsoft.com/office/drawing/2014/main" id="{E63CA443-F4EF-401C-B0CB-1300FDD3B8D9}"/>
              </a:ext>
            </a:extLst>
          </p:cNvPr>
          <p:cNvSpPr>
            <a:spLocks xmlns:a="http://schemas.openxmlformats.org/drawingml/2006/main" noGrp="1"/>
          </p:cNvSpPr>
          <p:nvPr/>
        </p:nvSpPr>
        <p:spPr>
          <a:xfrm xmlns:a="http://schemas.openxmlformats.org/drawingml/2006/main">
            <a:off x="762000" y="5124450"/>
            <a:ext cx="50006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E8EEFD"/>
                </a:solidFill>
                <a:latin typeface="Arial"/>
                <a:ea typeface="Arial"/>
                <a:cs typeface="Arial"/>
              </a:defRPr>
            </a:pPr>
            <a:r>
              <a:rPr sz="1575" b="0">
                <a:solidFill>
                  <a:srgbClr val="E8EEFD"/>
                </a:solidFill>
                <a:latin typeface="Arial"/>
                <a:ea typeface="Arial"/>
                <a:cs typeface="Arial"/>
              </a:rPr>
              <a:t>Whisper transcribes speech. AI-assisted glossing and language rules create ASL-oriented text and contextual cues. A dictionary and pose solver generate timed motion.</a:t>
            </a:r>
          </a:p>
        </p:txBody>
      </p:sp>
      <p:sp>
        <p:nvSpPr>
          <p:cNvPr id="34" name="Panel 100">
            <a:extLst xmlns:a="http://schemas.openxmlformats.org/drawingml/2006/main">
              <a:ext uri="{FF2B5EF4-FFF2-40B4-BE49-F238E27FC236}">
                <a16:creationId xmlns:a16="http://schemas.microsoft.com/office/drawing/2014/main" id="{8466ADC9-BCBA-4962-AE1A-CDF0C40C6747}"/>
              </a:ext>
            </a:extLst>
          </p:cNvPr>
          <p:cNvSpPr>
            <a:spLocks xmlns:a="http://schemas.openxmlformats.org/drawingml/2006/main" noGrp="1"/>
          </p:cNvSpPr>
          <p:nvPr/>
        </p:nvSpPr>
        <p:spPr>
          <a:xfrm xmlns:a="http://schemas.openxmlformats.org/drawingml/2006/main">
            <a:off x="6181725" y="4572000"/>
            <a:ext cx="5476875" cy="1790700"/>
          </a:xfrm>
          <a:prstGeom xmlns:a="http://schemas.openxmlformats.org/drawingml/2006/main" prst="roundRect">
            <a:avLst>
              <a:gd name="adj" fmla="val 9574"/>
            </a:avLst>
          </a:prstGeom>
          <a:solidFill xmlns:a="http://schemas.openxmlformats.org/drawingml/2006/main">
            <a:srgbClr val="FFFFFF">
              <a:alpha val="4000"/>
            </a:srgbClr>
          </a:solidFill>
          <a:ln xmlns:a="http://schemas.openxmlformats.org/drawingml/2006/main" w="6668">
            <a:solidFill>
              <a:srgbClr val="414451"/>
            </a:solidFill>
          </a:ln>
        </p:spPr>
      </p:sp>
      <p:sp>
        <p:nvSpPr>
          <p:cNvPr id="35" name="TECHNICAL CHOICES 101">
            <a:extLst xmlns:a="http://schemas.openxmlformats.org/drawingml/2006/main">
              <a:ext uri="{FF2B5EF4-FFF2-40B4-BE49-F238E27FC236}">
                <a16:creationId xmlns:a16="http://schemas.microsoft.com/office/drawing/2014/main" id="{43164C1B-ECF3-4470-A100-0223928E2107}"/>
              </a:ext>
            </a:extLst>
          </p:cNvPr>
          <p:cNvSpPr>
            <a:spLocks xmlns:a="http://schemas.openxmlformats.org/drawingml/2006/main" noGrp="1"/>
          </p:cNvSpPr>
          <p:nvPr/>
        </p:nvSpPr>
        <p:spPr>
          <a:xfrm xmlns:a="http://schemas.openxmlformats.org/drawingml/2006/main">
            <a:off x="6410325" y="4772025"/>
            <a:ext cx="50196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40DDFF"/>
                </a:solidFill>
                <a:latin typeface="Arial"/>
                <a:ea typeface="Arial"/>
                <a:cs typeface="Arial"/>
              </a:defRPr>
            </a:pPr>
            <a:r>
              <a:rPr sz="1050" b="1">
                <a:solidFill>
                  <a:srgbClr val="40DDFF"/>
                </a:solidFill>
                <a:latin typeface="Arial"/>
                <a:ea typeface="Arial"/>
                <a:cs typeface="Arial"/>
              </a:rPr>
              <a:t>TECHNICAL CHOICES</a:t>
            </a:r>
          </a:p>
        </p:txBody>
      </p:sp>
      <p:sp>
        <p:nvSpPr>
          <p:cNvPr id="36" name="Reusable sign dictionaries and procedural  102">
            <a:extLst xmlns:a="http://schemas.openxmlformats.org/drawingml/2006/main">
              <a:ext uri="{FF2B5EF4-FFF2-40B4-BE49-F238E27FC236}">
                <a16:creationId xmlns:a16="http://schemas.microsoft.com/office/drawing/2014/main" id="{E9A1C89B-7F98-4610-B45D-C3D38BFD151E}"/>
              </a:ext>
            </a:extLst>
          </p:cNvPr>
          <p:cNvSpPr>
            <a:spLocks xmlns:a="http://schemas.openxmlformats.org/drawingml/2006/main" noGrp="1"/>
          </p:cNvSpPr>
          <p:nvPr/>
        </p:nvSpPr>
        <p:spPr>
          <a:xfrm xmlns:a="http://schemas.openxmlformats.org/drawingml/2006/main">
            <a:off x="6410325" y="5124450"/>
            <a:ext cx="50196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E8EEFD"/>
                </a:solidFill>
                <a:latin typeface="Arial"/>
                <a:ea typeface="Arial"/>
                <a:cs typeface="Arial"/>
              </a:defRPr>
            </a:pPr>
            <a:r>
              <a:rPr sz="1575" b="0">
                <a:solidFill>
                  <a:srgbClr val="E8EEFD"/>
                </a:solidFill>
                <a:latin typeface="Arial"/>
                <a:ea typeface="Arial"/>
                <a:cs typeface="Arial"/>
              </a:rPr>
              <a:t>Reusable sign dictionaries and procedural motion run in the browser. Live captions arrive after five-second audio windows plus transcription and translation.</a:t>
            </a:r>
          </a:p>
        </p:txBody>
      </p:sp>
    </p:spTree>
    <p:extLst>
      <p:ext uri="{BB962C8B-B14F-4D97-AF65-F5344CB8AC3E}">
        <p14:creationId xmlns:p14="http://schemas.microsoft.com/office/powerpoint/2010/main" val="102685562"/>
      </p:ext>
    </p:extLst>
  </p:cSld>
</p:sld>
</file>

<file path=ppt/slides/slide5.xml><?xml version="1.0" encoding="utf-8"?>
<p:sld xmlns:p="http://schemas.openxmlformats.org/presentationml/2006/main">
  <p:cSld>
    <p:bg>
      <p:bgPr>
        <a:solidFill xmlns:a="http://schemas.openxmlformats.org/drawingml/2006/main">
          <a:srgbClr val="04050D"/>
        </a:solidFill>
      </p:bgPr>
    </p:bg>
    <p:spTree>
      <p:nvGrpSpPr>
        <p:cNvPr id="1" name=""/>
        <p:cNvGrpSpPr/>
        <p:nvPr/>
      </p:nvGrpSpPr>
      <p:grpSpPr>
        <a:xfrm xmlns:a="http://schemas.openxmlformats.org/drawingml/2006/main"/>
      </p:grpSpPr>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63cb3a3f6f6049de"/>
          <a:stretch xmlns:a="http://schemas.openxmlformats.org/drawingml/2006/main"/>
        </p:blipFill>
        <p:spPr>
          <a:xfrm xmlns:a="http://schemas.openxmlformats.org/drawingml/2006/main">
            <a:off x="0" y="823"/>
            <a:ext cx="5734050" cy="5351405"/>
          </a:xfrm>
          <a:prstGeom xmlns:a="http://schemas.openxmlformats.org/drawingml/2006/main" prst="rect">
            <a:avLst/>
          </a:prstGeom>
        </p:spPr>
      </p:pic>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da3d394b521c4001"/>
          <a:stretch xmlns:a="http://schemas.openxmlformats.org/drawingml/2006/main"/>
        </p:blipFill>
        <p:spPr>
          <a:xfrm xmlns:a="http://schemas.openxmlformats.org/drawingml/2006/main">
            <a:off x="6279271" y="1514475"/>
            <a:ext cx="5910433" cy="5343525"/>
          </a:xfrm>
          <a:prstGeom xmlns:a="http://schemas.openxmlformats.org/drawingml/2006/main" prst="rect">
            <a:avLst/>
          </a:prstGeom>
        </p:spPr>
      </p:pic>
      <p:sp>
        <p:nvSpPr>
          <p:cNvPr id="3" name="Background tint 103">
            <a:extLst xmlns:a="http://schemas.openxmlformats.org/drawingml/2006/main">
              <a:ext uri="{FF2B5EF4-FFF2-40B4-BE49-F238E27FC236}">
                <a16:creationId xmlns:a16="http://schemas.microsoft.com/office/drawing/2014/main" id="{D036A0DC-9872-4D13-B763-6C345E6F1FD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oundRect">
            <a:avLst>
              <a:gd name="adj" fmla="val 0"/>
            </a:avLst>
          </a:prstGeom>
          <a:solidFill xmlns:a="http://schemas.openxmlformats.org/drawingml/2006/main">
            <a:srgbClr val="04050D">
              <a:alpha val="60000"/>
            </a:srgbClr>
          </a:solidFill>
          <a:ln xmlns:a="http://schemas.openxmlformats.org/drawingml/2006/main" w="0">
            <a:noFill/>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fe410da0af7941bc"/>
          <a:srcRect xmlns:a="http://schemas.openxmlformats.org/drawingml/2006/main" l="22705" t="0" r="22705" b="0"/>
          <a:stretch xmlns:a="http://schemas.openxmlformats.org/drawingml/2006/main">
            <a:fillRect l="0" t="0" r="0" b="0"/>
          </a:stretch>
        </p:blipFill>
        <p:spPr>
          <a:xfrm xmlns:a="http://schemas.openxmlformats.org/drawingml/2006/main">
            <a:off x="514350" y="209550"/>
            <a:ext cx="333375" cy="333375"/>
          </a:xfrm>
          <a:prstGeom xmlns:a="http://schemas.openxmlformats.org/drawingml/2006/main" prst="ellipse">
            <a:avLst/>
          </a:prstGeom>
        </p:spPr>
      </p:pic>
      <p:sp>
        <p:nvSpPr>
          <p:cNvPr id="5" name="U N M U T E 104">
            <a:extLst xmlns:a="http://schemas.openxmlformats.org/drawingml/2006/main">
              <a:ext uri="{FF2B5EF4-FFF2-40B4-BE49-F238E27FC236}">
                <a16:creationId xmlns:a16="http://schemas.microsoft.com/office/drawing/2014/main" id="{3D0A3681-B38F-49C9-AAF4-345EB9FC8464}"/>
              </a:ext>
            </a:extLst>
          </p:cNvPr>
          <p:cNvSpPr>
            <a:spLocks xmlns:a="http://schemas.openxmlformats.org/drawingml/2006/main" noGrp="1"/>
          </p:cNvSpPr>
          <p:nvPr/>
        </p:nvSpPr>
        <p:spPr>
          <a:xfrm xmlns:a="http://schemas.openxmlformats.org/drawingml/2006/main">
            <a:off x="962025" y="2857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40DDFF"/>
                </a:solidFill>
                <a:latin typeface="Arial"/>
                <a:ea typeface="Arial"/>
                <a:cs typeface="Arial"/>
              </a:defRPr>
            </a:pPr>
            <a:r>
              <a:rPr sz="1050" b="1">
                <a:solidFill>
                  <a:srgbClr val="40DDFF"/>
                </a:solidFill>
                <a:latin typeface="Arial"/>
                <a:ea typeface="Arial"/>
                <a:cs typeface="Arial"/>
              </a:rPr>
              <a:t>U N M U T E</a:t>
            </a:r>
          </a:p>
        </p:txBody>
      </p:sp>
      <p:sp>
        <p:nvSpPr>
          <p:cNvPr id="6" name="05 / 06 105">
            <a:extLst xmlns:a="http://schemas.openxmlformats.org/drawingml/2006/main">
              <a:ext uri="{FF2B5EF4-FFF2-40B4-BE49-F238E27FC236}">
                <a16:creationId xmlns:a16="http://schemas.microsoft.com/office/drawing/2014/main" id="{B91E5426-F733-4BE1-AED3-0D1EDFB9138C}"/>
              </a:ext>
            </a:extLst>
          </p:cNvPr>
          <p:cNvSpPr>
            <a:spLocks xmlns:a="http://schemas.openxmlformats.org/drawingml/2006/main" noGrp="1"/>
          </p:cNvSpPr>
          <p:nvPr/>
        </p:nvSpPr>
        <p:spPr>
          <a:xfrm xmlns:a="http://schemas.openxmlformats.org/drawingml/2006/main">
            <a:off x="10668000" y="295275"/>
            <a:ext cx="1009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1">
                <a:solidFill>
                  <a:srgbClr val="A7B5D4"/>
                </a:solidFill>
                <a:latin typeface="Arial"/>
                <a:ea typeface="Arial"/>
                <a:cs typeface="Arial"/>
              </a:defRPr>
            </a:pPr>
            <a:r>
              <a:rPr sz="975" b="1">
                <a:solidFill>
                  <a:srgbClr val="A7B5D4"/>
                </a:solidFill>
                <a:latin typeface="Arial"/>
                <a:ea typeface="Arial"/>
                <a:cs typeface="Arial"/>
              </a:rPr>
              <a:t>05 / 06</a:t>
            </a:r>
          </a:p>
        </p:txBody>
      </p:sp>
      <p:sp>
        <p:nvSpPr>
          <p:cNvPr id="7" name="Divider 106">
            <a:extLst xmlns:a="http://schemas.openxmlformats.org/drawingml/2006/main">
              <a:ext uri="{FF2B5EF4-FFF2-40B4-BE49-F238E27FC236}">
                <a16:creationId xmlns:a16="http://schemas.microsoft.com/office/drawing/2014/main" id="{ED82AC3F-1F4A-448F-A514-13F57A442A56}"/>
              </a:ext>
            </a:extLst>
          </p:cNvPr>
          <p:cNvSpPr>
            <a:spLocks xmlns:a="http://schemas.openxmlformats.org/drawingml/2006/main" noGrp="1"/>
          </p:cNvSpPr>
          <p:nvPr/>
        </p:nvSpPr>
        <p:spPr>
          <a:xfrm xmlns:a="http://schemas.openxmlformats.org/drawingml/2006/main">
            <a:off x="533400" y="762000"/>
            <a:ext cx="438150" cy="0"/>
          </a:xfrm>
          <a:prstGeom xmlns:a="http://schemas.openxmlformats.org/drawingml/2006/main" prst="line">
            <a:avLst/>
          </a:prstGeom>
          <a:noFill xmlns:a="http://schemas.openxmlformats.org/drawingml/2006/main"/>
          <a:ln xmlns:a="http://schemas.openxmlformats.org/drawingml/2006/main" w="9525">
            <a:solidFill>
              <a:srgbClr val="40DDFF"/>
            </a:solidFill>
          </a:ln>
        </p:spPr>
      </p:sp>
      <p:sp>
        <p:nvSpPr>
          <p:cNvPr id="8" name="VIABILITY &amp; REACH 107">
            <a:extLst xmlns:a="http://schemas.openxmlformats.org/drawingml/2006/main">
              <a:ext uri="{FF2B5EF4-FFF2-40B4-BE49-F238E27FC236}">
                <a16:creationId xmlns:a16="http://schemas.microsoft.com/office/drawing/2014/main" id="{40BCACF4-9F0B-4BC6-B892-C83EF3B5DE0B}"/>
              </a:ext>
            </a:extLst>
          </p:cNvPr>
          <p:cNvSpPr>
            <a:spLocks xmlns:a="http://schemas.openxmlformats.org/drawingml/2006/main" noGrp="1"/>
          </p:cNvSpPr>
          <p:nvPr/>
        </p:nvSpPr>
        <p:spPr>
          <a:xfrm xmlns:a="http://schemas.openxmlformats.org/drawingml/2006/main">
            <a:off x="1095375" y="66675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A7B5D4"/>
                </a:solidFill>
                <a:latin typeface="Arial"/>
                <a:ea typeface="Arial"/>
                <a:cs typeface="Arial"/>
              </a:defRPr>
            </a:pPr>
            <a:r>
              <a:rPr sz="1050" b="1">
                <a:solidFill>
                  <a:srgbClr val="A7B5D4"/>
                </a:solidFill>
                <a:latin typeface="Arial"/>
                <a:ea typeface="Arial"/>
                <a:cs typeface="Arial"/>
              </a:rPr>
              <a:t>VIABILITY &amp; REACH</a:t>
            </a:r>
          </a:p>
        </p:txBody>
      </p:sp>
      <p:sp>
        <p:nvSpPr>
          <p:cNvPr id="9" name="Feasibility, Scalability &amp; Impact 108">
            <a:extLst xmlns:a="http://schemas.openxmlformats.org/drawingml/2006/main">
              <a:ext uri="{FF2B5EF4-FFF2-40B4-BE49-F238E27FC236}">
                <a16:creationId xmlns:a16="http://schemas.microsoft.com/office/drawing/2014/main" id="{5FA21342-DD1F-4F3D-9D19-4AE3343210C7}"/>
              </a:ext>
            </a:extLst>
          </p:cNvPr>
          <p:cNvSpPr>
            <a:spLocks xmlns:a="http://schemas.openxmlformats.org/drawingml/2006/main" noGrp="1"/>
          </p:cNvSpPr>
          <p:nvPr/>
        </p:nvSpPr>
        <p:spPr>
          <a:xfrm xmlns:a="http://schemas.openxmlformats.org/drawingml/2006/main">
            <a:off x="533400" y="971550"/>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E8EEFD"/>
                </a:solidFill>
                <a:latin typeface="Arial"/>
                <a:ea typeface="Arial"/>
                <a:cs typeface="Arial"/>
              </a:defRPr>
            </a:pPr>
            <a:r>
              <a:rPr sz="3150" b="1">
                <a:solidFill>
                  <a:srgbClr val="E8EEFD"/>
                </a:solidFill>
                <a:latin typeface="Arial"/>
                <a:ea typeface="Arial"/>
                <a:cs typeface="Arial"/>
              </a:rPr>
              <a:t>Feasibility, Scalability &amp; </a:t>
            </a:r>
            <a:r>
              <a:rPr sz="3150" b="1">
                <a:gradFill>
                  <a:gsLst>
                    <a:gs pos="0">
                      <a:srgbClr val="40DDFF"/>
                    </a:gs>
                    <a:gs pos="50000">
                      <a:srgbClr val="9C7CFF"/>
                    </a:gs>
                    <a:gs pos="100000">
                      <a:srgbClr val="E775D2"/>
                    </a:gs>
                  </a:gsLst>
                  <a:lin ang="0"/>
                </a:gradFill>
                <a:latin typeface="Arial"/>
                <a:ea typeface="Arial"/>
                <a:cs typeface="Arial"/>
              </a:rPr>
              <a:t>Impact</a:t>
            </a:r>
          </a:p>
        </p:txBody>
      </p:sp>
      <p:sp>
        <p:nvSpPr>
          <p:cNvPr id="10" name="R A M P A G E   /   B I T  N  B U I L D  2 109">
            <a:extLst xmlns:a="http://schemas.openxmlformats.org/drawingml/2006/main">
              <a:ext uri="{FF2B5EF4-FFF2-40B4-BE49-F238E27FC236}">
                <a16:creationId xmlns:a16="http://schemas.microsoft.com/office/drawing/2014/main" id="{94D01803-ECCB-495A-B6DC-C97EC22B6C20}"/>
              </a:ext>
            </a:extLst>
          </p:cNvPr>
          <p:cNvSpPr>
            <a:spLocks xmlns:a="http://schemas.openxmlformats.org/drawingml/2006/main" noGrp="1"/>
          </p:cNvSpPr>
          <p:nvPr/>
        </p:nvSpPr>
        <p:spPr>
          <a:xfrm xmlns:a="http://schemas.openxmlformats.org/drawingml/2006/main">
            <a:off x="533400" y="6591300"/>
            <a:ext cx="95250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50" b="0">
                <a:solidFill>
                  <a:srgbClr val="A7B5D4"/>
                </a:solidFill>
                <a:latin typeface="Arial"/>
                <a:ea typeface="Arial"/>
                <a:cs typeface="Arial"/>
              </a:defRPr>
            </a:pPr>
            <a:r>
              <a:rPr sz="750" b="0">
                <a:solidFill>
                  <a:srgbClr val="A7B5D4"/>
                </a:solidFill>
                <a:latin typeface="Arial"/>
                <a:ea typeface="Arial"/>
                <a:cs typeface="Arial"/>
              </a:rPr>
              <a:t>R A M P A G E   /   B I T  N  B U I L D  2 0 2 6</a:t>
            </a:r>
          </a:p>
        </p:txBody>
      </p:sp>
      <p:sp>
        <p:nvSpPr>
          <p:cNvPr id="11" name="Panel 110">
            <a:extLst xmlns:a="http://schemas.openxmlformats.org/drawingml/2006/main">
              <a:ext uri="{FF2B5EF4-FFF2-40B4-BE49-F238E27FC236}">
                <a16:creationId xmlns:a16="http://schemas.microsoft.com/office/drawing/2014/main" id="{312D2C6E-D6C9-4798-9D25-29A85020C9D2}"/>
              </a:ext>
            </a:extLst>
          </p:cNvPr>
          <p:cNvSpPr>
            <a:spLocks xmlns:a="http://schemas.openxmlformats.org/drawingml/2006/main" noGrp="1"/>
          </p:cNvSpPr>
          <p:nvPr/>
        </p:nvSpPr>
        <p:spPr>
          <a:xfrm xmlns:a="http://schemas.openxmlformats.org/drawingml/2006/main">
            <a:off x="533400" y="1714500"/>
            <a:ext cx="5457825" cy="2238375"/>
          </a:xfrm>
          <a:prstGeom xmlns:a="http://schemas.openxmlformats.org/drawingml/2006/main" prst="roundRect">
            <a:avLst>
              <a:gd name="adj" fmla="val 7660"/>
            </a:avLst>
          </a:prstGeom>
          <a:solidFill xmlns:a="http://schemas.openxmlformats.org/drawingml/2006/main">
            <a:srgbClr val="FFFFFF">
              <a:alpha val="4000"/>
            </a:srgbClr>
          </a:solidFill>
          <a:ln xmlns:a="http://schemas.openxmlformats.org/drawingml/2006/main" w="6668">
            <a:solidFill>
              <a:srgbClr val="414451"/>
            </a:solidFill>
          </a:ln>
        </p:spPr>
      </p:sp>
      <p:sp>
        <p:nvSpPr>
          <p:cNvPr id="12" name="FEASIBILITY 111">
            <a:extLst xmlns:a="http://schemas.openxmlformats.org/drawingml/2006/main">
              <a:ext uri="{FF2B5EF4-FFF2-40B4-BE49-F238E27FC236}">
                <a16:creationId xmlns:a16="http://schemas.microsoft.com/office/drawing/2014/main" id="{0F5CEBD7-294C-4070-8286-A5820D8CBAB2}"/>
              </a:ext>
            </a:extLst>
          </p:cNvPr>
          <p:cNvSpPr>
            <a:spLocks xmlns:a="http://schemas.openxmlformats.org/drawingml/2006/main" noGrp="1"/>
          </p:cNvSpPr>
          <p:nvPr/>
        </p:nvSpPr>
        <p:spPr>
          <a:xfrm xmlns:a="http://schemas.openxmlformats.org/drawingml/2006/main">
            <a:off x="762000" y="1914525"/>
            <a:ext cx="500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40DDFF"/>
                </a:solidFill>
                <a:latin typeface="Arial"/>
                <a:ea typeface="Arial"/>
                <a:cs typeface="Arial"/>
              </a:defRPr>
            </a:pPr>
            <a:r>
              <a:rPr sz="1050" b="1">
                <a:solidFill>
                  <a:srgbClr val="40DDFF"/>
                </a:solidFill>
                <a:latin typeface="Arial"/>
                <a:ea typeface="Arial"/>
                <a:cs typeface="Arial"/>
              </a:rPr>
              <a:t>FEASIBILITY</a:t>
            </a:r>
          </a:p>
        </p:txBody>
      </p:sp>
      <p:sp>
        <p:nvSpPr>
          <p:cNvPr id="13" name="Hosted speech services, reusable sign dict 112">
            <a:extLst xmlns:a="http://schemas.openxmlformats.org/drawingml/2006/main">
              <a:ext uri="{FF2B5EF4-FFF2-40B4-BE49-F238E27FC236}">
                <a16:creationId xmlns:a16="http://schemas.microsoft.com/office/drawing/2014/main" id="{CC3AAF8F-4F63-4D41-A34A-664BC97CA1B1}"/>
              </a:ext>
            </a:extLst>
          </p:cNvPr>
          <p:cNvSpPr>
            <a:spLocks xmlns:a="http://schemas.openxmlformats.org/drawingml/2006/main" noGrp="1"/>
          </p:cNvSpPr>
          <p:nvPr/>
        </p:nvSpPr>
        <p:spPr>
          <a:xfrm xmlns:a="http://schemas.openxmlformats.org/drawingml/2006/main">
            <a:off x="762000" y="2266950"/>
            <a:ext cx="5000625" cy="1514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E8EEFD"/>
                </a:solidFill>
                <a:latin typeface="Arial"/>
                <a:ea typeface="Arial"/>
                <a:cs typeface="Arial"/>
              </a:defRPr>
            </a:pPr>
            <a:r>
              <a:rPr sz="1725" b="0">
                <a:solidFill>
                  <a:srgbClr val="E8EEFD"/>
                </a:solidFill>
                <a:latin typeface="Arial"/>
                <a:ea typeface="Arial"/>
                <a:cs typeface="Arial"/>
              </a:rPr>
              <a:t>Hosted speech services, reusable sign dictionaries, and browser rendering support a working prototype. A built-in demo and device saves work without an account.</a:t>
            </a:r>
          </a:p>
        </p:txBody>
      </p:sp>
      <p:sp>
        <p:nvSpPr>
          <p:cNvPr id="14" name="Panel 113">
            <a:extLst xmlns:a="http://schemas.openxmlformats.org/drawingml/2006/main">
              <a:ext uri="{FF2B5EF4-FFF2-40B4-BE49-F238E27FC236}">
                <a16:creationId xmlns:a16="http://schemas.microsoft.com/office/drawing/2014/main" id="{01DCA8D1-E979-4116-AE2F-574B9BE88888}"/>
              </a:ext>
            </a:extLst>
          </p:cNvPr>
          <p:cNvSpPr>
            <a:spLocks xmlns:a="http://schemas.openxmlformats.org/drawingml/2006/main" noGrp="1"/>
          </p:cNvSpPr>
          <p:nvPr/>
        </p:nvSpPr>
        <p:spPr>
          <a:xfrm xmlns:a="http://schemas.openxmlformats.org/drawingml/2006/main">
            <a:off x="6181725" y="1714500"/>
            <a:ext cx="5476875" cy="2238375"/>
          </a:xfrm>
          <a:prstGeom xmlns:a="http://schemas.openxmlformats.org/drawingml/2006/main" prst="roundRect">
            <a:avLst>
              <a:gd name="adj" fmla="val 7660"/>
            </a:avLst>
          </a:prstGeom>
          <a:solidFill xmlns:a="http://schemas.openxmlformats.org/drawingml/2006/main">
            <a:srgbClr val="FFFFFF">
              <a:alpha val="4000"/>
            </a:srgbClr>
          </a:solidFill>
          <a:ln xmlns:a="http://schemas.openxmlformats.org/drawingml/2006/main" w="6668">
            <a:solidFill>
              <a:srgbClr val="414451"/>
            </a:solidFill>
          </a:ln>
        </p:spPr>
      </p:sp>
      <p:sp>
        <p:nvSpPr>
          <p:cNvPr id="15" name="SCALABILITY 114">
            <a:extLst xmlns:a="http://schemas.openxmlformats.org/drawingml/2006/main">
              <a:ext uri="{FF2B5EF4-FFF2-40B4-BE49-F238E27FC236}">
                <a16:creationId xmlns:a16="http://schemas.microsoft.com/office/drawing/2014/main" id="{F652470E-6D06-4958-8A00-62E5A5E96B7C}"/>
              </a:ext>
            </a:extLst>
          </p:cNvPr>
          <p:cNvSpPr>
            <a:spLocks xmlns:a="http://schemas.openxmlformats.org/drawingml/2006/main" noGrp="1"/>
          </p:cNvSpPr>
          <p:nvPr/>
        </p:nvSpPr>
        <p:spPr>
          <a:xfrm xmlns:a="http://schemas.openxmlformats.org/drawingml/2006/main">
            <a:off x="6410325" y="1914525"/>
            <a:ext cx="50196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40DDFF"/>
                </a:solidFill>
                <a:latin typeface="Arial"/>
                <a:ea typeface="Arial"/>
                <a:cs typeface="Arial"/>
              </a:defRPr>
            </a:pPr>
            <a:r>
              <a:rPr sz="1050" b="1">
                <a:solidFill>
                  <a:srgbClr val="40DDFF"/>
                </a:solidFill>
                <a:latin typeface="Arial"/>
                <a:ea typeface="Arial"/>
                <a:cs typeface="Arial"/>
              </a:rPr>
              <a:t>SCALABILITY</a:t>
            </a:r>
          </a:p>
        </p:txBody>
      </p:sp>
      <p:sp>
        <p:nvSpPr>
          <p:cNvPr id="16" name="The pipeline lets vocabulary and language  115">
            <a:extLst xmlns:a="http://schemas.openxmlformats.org/drawingml/2006/main">
              <a:ext uri="{FF2B5EF4-FFF2-40B4-BE49-F238E27FC236}">
                <a16:creationId xmlns:a16="http://schemas.microsoft.com/office/drawing/2014/main" id="{A82AB77E-BACD-48E2-9F70-EC8BF01166BE}"/>
              </a:ext>
            </a:extLst>
          </p:cNvPr>
          <p:cNvSpPr>
            <a:spLocks xmlns:a="http://schemas.openxmlformats.org/drawingml/2006/main" noGrp="1"/>
          </p:cNvSpPr>
          <p:nvPr/>
        </p:nvSpPr>
        <p:spPr>
          <a:xfrm xmlns:a="http://schemas.openxmlformats.org/drawingml/2006/main">
            <a:off x="6410325" y="2266950"/>
            <a:ext cx="5019675" cy="1514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E8EEFD"/>
                </a:solidFill>
                <a:latin typeface="Arial"/>
                <a:ea typeface="Arial"/>
                <a:cs typeface="Arial"/>
              </a:defRPr>
            </a:pPr>
            <a:r>
              <a:rPr sz="1725" b="0">
                <a:solidFill>
                  <a:srgbClr val="E8EEFD"/>
                </a:solidFill>
                <a:latin typeface="Arial"/>
                <a:ea typeface="Arial"/>
                <a:cs typeface="Arial"/>
              </a:rPr>
              <a:t>The pipeline lets vocabulary and language profiles grow independently of the renderer. Each additional sign language needs its own grammar, vocabulary, and validation.</a:t>
            </a:r>
          </a:p>
        </p:txBody>
      </p:sp>
      <p:sp>
        <p:nvSpPr>
          <p:cNvPr id="17" name="Panel 116">
            <a:extLst xmlns:a="http://schemas.openxmlformats.org/drawingml/2006/main">
              <a:ext uri="{FF2B5EF4-FFF2-40B4-BE49-F238E27FC236}">
                <a16:creationId xmlns:a16="http://schemas.microsoft.com/office/drawing/2014/main" id="{14ECAA82-423C-426B-BA25-FE4E2F85A450}"/>
              </a:ext>
            </a:extLst>
          </p:cNvPr>
          <p:cNvSpPr>
            <a:spLocks xmlns:a="http://schemas.openxmlformats.org/drawingml/2006/main" noGrp="1"/>
          </p:cNvSpPr>
          <p:nvPr/>
        </p:nvSpPr>
        <p:spPr>
          <a:xfrm xmlns:a="http://schemas.openxmlformats.org/drawingml/2006/main">
            <a:off x="533400" y="4143375"/>
            <a:ext cx="5457825" cy="2219325"/>
          </a:xfrm>
          <a:prstGeom xmlns:a="http://schemas.openxmlformats.org/drawingml/2006/main" prst="roundRect">
            <a:avLst>
              <a:gd name="adj" fmla="val 7725"/>
            </a:avLst>
          </a:prstGeom>
          <a:solidFill xmlns:a="http://schemas.openxmlformats.org/drawingml/2006/main">
            <a:srgbClr val="FFFFFF">
              <a:alpha val="4000"/>
            </a:srgbClr>
          </a:solidFill>
          <a:ln xmlns:a="http://schemas.openxmlformats.org/drawingml/2006/main" w="6668">
            <a:solidFill>
              <a:srgbClr val="414451"/>
            </a:solidFill>
          </a:ln>
        </p:spPr>
      </p:sp>
      <p:sp>
        <p:nvSpPr>
          <p:cNvPr id="18" name="EXPECTED IMPACT &amp; TARGET USERS 117">
            <a:extLst xmlns:a="http://schemas.openxmlformats.org/drawingml/2006/main">
              <a:ext uri="{FF2B5EF4-FFF2-40B4-BE49-F238E27FC236}">
                <a16:creationId xmlns:a16="http://schemas.microsoft.com/office/drawing/2014/main" id="{ABBE2671-99EA-4CA5-9405-C45974070CB6}"/>
              </a:ext>
            </a:extLst>
          </p:cNvPr>
          <p:cNvSpPr>
            <a:spLocks xmlns:a="http://schemas.openxmlformats.org/drawingml/2006/main" noGrp="1"/>
          </p:cNvSpPr>
          <p:nvPr/>
        </p:nvSpPr>
        <p:spPr>
          <a:xfrm xmlns:a="http://schemas.openxmlformats.org/drawingml/2006/main">
            <a:off x="762000" y="4343400"/>
            <a:ext cx="500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40DDFF"/>
                </a:solidFill>
                <a:latin typeface="Arial"/>
                <a:ea typeface="Arial"/>
                <a:cs typeface="Arial"/>
              </a:defRPr>
            </a:pPr>
            <a:r>
              <a:rPr sz="1050" b="1">
                <a:solidFill>
                  <a:srgbClr val="40DDFF"/>
                </a:solidFill>
                <a:latin typeface="Arial"/>
                <a:ea typeface="Arial"/>
                <a:cs typeface="Arial"/>
              </a:rPr>
              <a:t>EXPECTED IMPACT &amp; TARGET USERS</a:t>
            </a:r>
          </a:p>
        </p:txBody>
      </p:sp>
      <p:sp>
        <p:nvSpPr>
          <p:cNvPr id="19" name="UNMUTE aims to give Deaf students and prof 118">
            <a:extLst xmlns:a="http://schemas.openxmlformats.org/drawingml/2006/main">
              <a:ext uri="{FF2B5EF4-FFF2-40B4-BE49-F238E27FC236}">
                <a16:creationId xmlns:a16="http://schemas.microsoft.com/office/drawing/2014/main" id="{E50A7F59-51EC-4A3F-A481-8950EBE66486}"/>
              </a:ext>
            </a:extLst>
          </p:cNvPr>
          <p:cNvSpPr>
            <a:spLocks xmlns:a="http://schemas.openxmlformats.org/drawingml/2006/main" noGrp="1"/>
          </p:cNvSpPr>
          <p:nvPr/>
        </p:nvSpPr>
        <p:spPr>
          <a:xfrm xmlns:a="http://schemas.openxmlformats.org/drawingml/2006/main">
            <a:off x="762000" y="4695825"/>
            <a:ext cx="5000625"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E8EEFD"/>
                </a:solidFill>
                <a:latin typeface="Arial"/>
                <a:ea typeface="Arial"/>
                <a:cs typeface="Arial"/>
              </a:defRPr>
            </a:pPr>
            <a:r>
              <a:rPr sz="1725" b="0">
                <a:solidFill>
                  <a:srgbClr val="E8EEFD"/>
                </a:solidFill>
                <a:latin typeface="Arial"/>
                <a:ea typeface="Arial"/>
                <a:cs typeface="Arial"/>
              </a:rPr>
              <a:t>UNMUTE aims to give Deaf students and professionals another way to follow recorded content and live conversations, alongside captions.</a:t>
            </a:r>
          </a:p>
        </p:txBody>
      </p:sp>
      <p:sp>
        <p:nvSpPr>
          <p:cNvPr id="20" name="Panel 119">
            <a:extLst xmlns:a="http://schemas.openxmlformats.org/drawingml/2006/main">
              <a:ext uri="{FF2B5EF4-FFF2-40B4-BE49-F238E27FC236}">
                <a16:creationId xmlns:a16="http://schemas.microsoft.com/office/drawing/2014/main" id="{AEE69AF7-F681-4137-90E8-A6B1DCB997DD}"/>
              </a:ext>
            </a:extLst>
          </p:cNvPr>
          <p:cNvSpPr>
            <a:spLocks xmlns:a="http://schemas.openxmlformats.org/drawingml/2006/main" noGrp="1"/>
          </p:cNvSpPr>
          <p:nvPr/>
        </p:nvSpPr>
        <p:spPr>
          <a:xfrm xmlns:a="http://schemas.openxmlformats.org/drawingml/2006/main">
            <a:off x="6181725" y="4143375"/>
            <a:ext cx="5476875" cy="2219325"/>
          </a:xfrm>
          <a:prstGeom xmlns:a="http://schemas.openxmlformats.org/drawingml/2006/main" prst="roundRect">
            <a:avLst>
              <a:gd name="adj" fmla="val 7725"/>
            </a:avLst>
          </a:prstGeom>
          <a:solidFill xmlns:a="http://schemas.openxmlformats.org/drawingml/2006/main">
            <a:srgbClr val="FFFFFF">
              <a:alpha val="4000"/>
            </a:srgbClr>
          </a:solidFill>
          <a:ln xmlns:a="http://schemas.openxmlformats.org/drawingml/2006/main" w="6668">
            <a:solidFill>
              <a:srgbClr val="414451"/>
            </a:solidFill>
          </a:ln>
        </p:spPr>
      </p:sp>
      <p:sp>
        <p:nvSpPr>
          <p:cNvPr id="21" name="FUTURE GROWTH 120">
            <a:extLst xmlns:a="http://schemas.openxmlformats.org/drawingml/2006/main">
              <a:ext uri="{FF2B5EF4-FFF2-40B4-BE49-F238E27FC236}">
                <a16:creationId xmlns:a16="http://schemas.microsoft.com/office/drawing/2014/main" id="{409DA6CD-BDD3-400E-BD28-23886D802ED0}"/>
              </a:ext>
            </a:extLst>
          </p:cNvPr>
          <p:cNvSpPr>
            <a:spLocks xmlns:a="http://schemas.openxmlformats.org/drawingml/2006/main" noGrp="1"/>
          </p:cNvSpPr>
          <p:nvPr/>
        </p:nvSpPr>
        <p:spPr>
          <a:xfrm xmlns:a="http://schemas.openxmlformats.org/drawingml/2006/main">
            <a:off x="6410325" y="4343400"/>
            <a:ext cx="50196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40DDFF"/>
                </a:solidFill>
                <a:latin typeface="Arial"/>
                <a:ea typeface="Arial"/>
                <a:cs typeface="Arial"/>
              </a:defRPr>
            </a:pPr>
            <a:r>
              <a:rPr sz="1050" b="1">
                <a:solidFill>
                  <a:srgbClr val="40DDFF"/>
                </a:solidFill>
                <a:latin typeface="Arial"/>
                <a:ea typeface="Arial"/>
                <a:cs typeface="Arial"/>
              </a:rPr>
              <a:t>FUTURE GROWTH</a:t>
            </a:r>
          </a:p>
        </p:txBody>
      </p:sp>
      <p:sp>
        <p:nvSpPr>
          <p:cNvPr id="22" name="Potential extensions include validated ISL 121">
            <a:extLst xmlns:a="http://schemas.openxmlformats.org/drawingml/2006/main">
              <a:ext uri="{FF2B5EF4-FFF2-40B4-BE49-F238E27FC236}">
                <a16:creationId xmlns:a16="http://schemas.microsoft.com/office/drawing/2014/main" id="{A2976A79-A2FE-4D1B-A426-DF7D5B4C8327}"/>
              </a:ext>
            </a:extLst>
          </p:cNvPr>
          <p:cNvSpPr>
            <a:spLocks xmlns:a="http://schemas.openxmlformats.org/drawingml/2006/main" noGrp="1"/>
          </p:cNvSpPr>
          <p:nvPr/>
        </p:nvSpPr>
        <p:spPr>
          <a:xfrm xmlns:a="http://schemas.openxmlformats.org/drawingml/2006/main">
            <a:off x="6410325" y="4695825"/>
            <a:ext cx="5019675"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E8EEFD"/>
                </a:solidFill>
                <a:latin typeface="Arial"/>
                <a:ea typeface="Arial"/>
                <a:cs typeface="Arial"/>
              </a:defRPr>
            </a:pPr>
            <a:r>
              <a:rPr sz="1725" b="0">
                <a:solidFill>
                  <a:srgbClr val="E8EEFD"/>
                </a:solidFill>
                <a:latin typeface="Arial"/>
                <a:ea typeface="Arial"/>
                <a:cs typeface="Arial"/>
              </a:rPr>
              <a:t>Potential extensions include validated ISL and BSL support, broader meeting integrations, and an accessibility API for partner applications.</a:t>
            </a:r>
          </a:p>
        </p:txBody>
      </p:sp>
    </p:spTree>
    <p:extLst>
      <p:ext uri="{BB962C8B-B14F-4D97-AF65-F5344CB8AC3E}">
        <p14:creationId xmlns:p14="http://schemas.microsoft.com/office/powerpoint/2010/main" val="1770600584"/>
      </p:ext>
    </p:extLst>
  </p:cSld>
</p:sld>
</file>

<file path=ppt/slides/slide6.xml><?xml version="1.0" encoding="utf-8"?>
<p:sld xmlns:p="http://schemas.openxmlformats.org/presentationml/2006/main">
  <p:cSld>
    <p:bg>
      <p:bgPr>
        <a:solidFill xmlns:a="http://schemas.openxmlformats.org/drawingml/2006/main">
          <a:srgbClr val="04050D"/>
        </a:solidFill>
      </p:bgPr>
    </p:bg>
    <p:spTree>
      <p:nvGrpSpPr>
        <p:cNvPr id="1" name=""/>
        <p:cNvGrpSpPr/>
        <p:nvPr/>
      </p:nvGrpSpPr>
      <p:grpSpPr>
        <a:xfrm xmlns:a="http://schemas.openxmlformats.org/drawingml/2006/main"/>
      </p:grpSpPr>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30e827860dc94ded"/>
          <a:stretch xmlns:a="http://schemas.openxmlformats.org/drawingml/2006/main"/>
        </p:blipFill>
        <p:spPr>
          <a:xfrm xmlns:a="http://schemas.openxmlformats.org/drawingml/2006/main">
            <a:off x="0" y="823"/>
            <a:ext cx="5734050" cy="5351405"/>
          </a:xfrm>
          <a:prstGeom xmlns:a="http://schemas.openxmlformats.org/drawingml/2006/main" prst="rect">
            <a:avLst/>
          </a:prstGeom>
        </p:spPr>
      </p:pic>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9fd49205a7fc4aab"/>
          <a:stretch xmlns:a="http://schemas.openxmlformats.org/drawingml/2006/main"/>
        </p:blipFill>
        <p:spPr>
          <a:xfrm xmlns:a="http://schemas.openxmlformats.org/drawingml/2006/main">
            <a:off x="6279271" y="1514475"/>
            <a:ext cx="5910433" cy="5343525"/>
          </a:xfrm>
          <a:prstGeom xmlns:a="http://schemas.openxmlformats.org/drawingml/2006/main" prst="rect">
            <a:avLst/>
          </a:prstGeom>
        </p:spPr>
      </p:pic>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b582b716366d4f9e"/>
          <a:stretch xmlns:a="http://schemas.openxmlformats.org/drawingml/2006/main"/>
        </p:blipFill>
        <p:spPr>
          <a:xfrm xmlns:a="http://schemas.openxmlformats.org/drawingml/2006/main">
            <a:off x="5135170" y="0"/>
            <a:ext cx="7055635" cy="5819775"/>
          </a:xfrm>
          <a:prstGeom xmlns:a="http://schemas.openxmlformats.org/drawingml/2006/main" prst="rect">
            <a:avLst/>
          </a:prstGeom>
        </p:spPr>
      </p:pic>
      <p:sp>
        <p:nvSpPr>
          <p:cNvPr id="4" name="Background tint 122">
            <a:extLst xmlns:a="http://schemas.openxmlformats.org/drawingml/2006/main">
              <a:ext uri="{FF2B5EF4-FFF2-40B4-BE49-F238E27FC236}">
                <a16:creationId xmlns:a16="http://schemas.microsoft.com/office/drawing/2014/main" id="{F80B20BC-93F9-43A2-B167-28A15E622EB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oundRect">
            <a:avLst>
              <a:gd name="adj" fmla="val 0"/>
            </a:avLst>
          </a:prstGeom>
          <a:solidFill xmlns:a="http://schemas.openxmlformats.org/drawingml/2006/main">
            <a:srgbClr val="04050D">
              <a:alpha val="60000"/>
            </a:srgbClr>
          </a:solidFill>
          <a:ln xmlns:a="http://schemas.openxmlformats.org/drawingml/2006/main" w="0">
            <a:noFill/>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5acdd54711b64af8"/>
          <a:srcRect xmlns:a="http://schemas.openxmlformats.org/drawingml/2006/main" l="22705" t="0" r="22705" b="0"/>
          <a:stretch xmlns:a="http://schemas.openxmlformats.org/drawingml/2006/main">
            <a:fillRect l="0" t="0" r="0" b="0"/>
          </a:stretch>
        </p:blipFill>
        <p:spPr>
          <a:xfrm xmlns:a="http://schemas.openxmlformats.org/drawingml/2006/main">
            <a:off x="514350" y="209550"/>
            <a:ext cx="333375" cy="333375"/>
          </a:xfrm>
          <a:prstGeom xmlns:a="http://schemas.openxmlformats.org/drawingml/2006/main" prst="ellipse">
            <a:avLst/>
          </a:prstGeom>
        </p:spPr>
      </p:pic>
      <p:sp>
        <p:nvSpPr>
          <p:cNvPr id="6" name="U N M U T E 123">
            <a:extLst xmlns:a="http://schemas.openxmlformats.org/drawingml/2006/main">
              <a:ext uri="{FF2B5EF4-FFF2-40B4-BE49-F238E27FC236}">
                <a16:creationId xmlns:a16="http://schemas.microsoft.com/office/drawing/2014/main" id="{D3BF3B45-621D-4B6F-AA87-3954E3775894}"/>
              </a:ext>
            </a:extLst>
          </p:cNvPr>
          <p:cNvSpPr>
            <a:spLocks xmlns:a="http://schemas.openxmlformats.org/drawingml/2006/main" noGrp="1"/>
          </p:cNvSpPr>
          <p:nvPr/>
        </p:nvSpPr>
        <p:spPr>
          <a:xfrm xmlns:a="http://schemas.openxmlformats.org/drawingml/2006/main">
            <a:off x="962025" y="2857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40DDFF"/>
                </a:solidFill>
                <a:latin typeface="Arial"/>
                <a:ea typeface="Arial"/>
                <a:cs typeface="Arial"/>
              </a:defRPr>
            </a:pPr>
            <a:r>
              <a:rPr sz="1050" b="1">
                <a:solidFill>
                  <a:srgbClr val="40DDFF"/>
                </a:solidFill>
                <a:latin typeface="Arial"/>
                <a:ea typeface="Arial"/>
                <a:cs typeface="Arial"/>
              </a:rPr>
              <a:t>U N M U T E</a:t>
            </a:r>
          </a:p>
        </p:txBody>
      </p:sp>
      <p:sp>
        <p:nvSpPr>
          <p:cNvPr id="7" name="06 / 06 124">
            <a:extLst xmlns:a="http://schemas.openxmlformats.org/drawingml/2006/main">
              <a:ext uri="{FF2B5EF4-FFF2-40B4-BE49-F238E27FC236}">
                <a16:creationId xmlns:a16="http://schemas.microsoft.com/office/drawing/2014/main" id="{941D71AD-CC60-40A5-968F-7A64ED9FD1A7}"/>
              </a:ext>
            </a:extLst>
          </p:cNvPr>
          <p:cNvSpPr>
            <a:spLocks xmlns:a="http://schemas.openxmlformats.org/drawingml/2006/main" noGrp="1"/>
          </p:cNvSpPr>
          <p:nvPr/>
        </p:nvSpPr>
        <p:spPr>
          <a:xfrm xmlns:a="http://schemas.openxmlformats.org/drawingml/2006/main">
            <a:off x="10668000" y="295275"/>
            <a:ext cx="1009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1">
                <a:solidFill>
                  <a:srgbClr val="A7B5D4"/>
                </a:solidFill>
                <a:latin typeface="Arial"/>
                <a:ea typeface="Arial"/>
                <a:cs typeface="Arial"/>
              </a:defRPr>
            </a:pPr>
            <a:r>
              <a:rPr sz="975" b="1">
                <a:solidFill>
                  <a:srgbClr val="A7B5D4"/>
                </a:solidFill>
                <a:latin typeface="Arial"/>
                <a:ea typeface="Arial"/>
                <a:cs typeface="Arial"/>
              </a:rPr>
              <a:t>06 / 06</a:t>
            </a:r>
          </a:p>
        </p:txBody>
      </p:sp>
      <p:sp>
        <p:nvSpPr>
          <p:cNvPr id="8" name="Divider 125">
            <a:extLst xmlns:a="http://schemas.openxmlformats.org/drawingml/2006/main">
              <a:ext uri="{FF2B5EF4-FFF2-40B4-BE49-F238E27FC236}">
                <a16:creationId xmlns:a16="http://schemas.microsoft.com/office/drawing/2014/main" id="{28A99D9E-A9D3-424F-8A45-3393E27F6FDB}"/>
              </a:ext>
            </a:extLst>
          </p:cNvPr>
          <p:cNvSpPr>
            <a:spLocks xmlns:a="http://schemas.openxmlformats.org/drawingml/2006/main" noGrp="1"/>
          </p:cNvSpPr>
          <p:nvPr/>
        </p:nvSpPr>
        <p:spPr>
          <a:xfrm xmlns:a="http://schemas.openxmlformats.org/drawingml/2006/main">
            <a:off x="533400" y="762000"/>
            <a:ext cx="438150" cy="0"/>
          </a:xfrm>
          <a:prstGeom xmlns:a="http://schemas.openxmlformats.org/drawingml/2006/main" prst="line">
            <a:avLst/>
          </a:prstGeom>
          <a:noFill xmlns:a="http://schemas.openxmlformats.org/drawingml/2006/main"/>
          <a:ln xmlns:a="http://schemas.openxmlformats.org/drawingml/2006/main" w="9525">
            <a:solidFill>
              <a:srgbClr val="40DDFF"/>
            </a:solidFill>
          </a:ln>
        </p:spPr>
      </p:sp>
      <p:sp>
        <p:nvSpPr>
          <p:cNvPr id="9" name="WHAT WE BUILT 126">
            <a:extLst xmlns:a="http://schemas.openxmlformats.org/drawingml/2006/main">
              <a:ext uri="{FF2B5EF4-FFF2-40B4-BE49-F238E27FC236}">
                <a16:creationId xmlns:a16="http://schemas.microsoft.com/office/drawing/2014/main" id="{DFC5986C-6492-4A90-A7F4-22BF89629461}"/>
              </a:ext>
            </a:extLst>
          </p:cNvPr>
          <p:cNvSpPr>
            <a:spLocks xmlns:a="http://schemas.openxmlformats.org/drawingml/2006/main" noGrp="1"/>
          </p:cNvSpPr>
          <p:nvPr/>
        </p:nvSpPr>
        <p:spPr>
          <a:xfrm xmlns:a="http://schemas.openxmlformats.org/drawingml/2006/main">
            <a:off x="1095375" y="66675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A7B5D4"/>
                </a:solidFill>
                <a:latin typeface="Arial"/>
                <a:ea typeface="Arial"/>
                <a:cs typeface="Arial"/>
              </a:defRPr>
            </a:pPr>
            <a:r>
              <a:rPr sz="1050" b="1">
                <a:solidFill>
                  <a:srgbClr val="A7B5D4"/>
                </a:solidFill>
                <a:latin typeface="Arial"/>
                <a:ea typeface="Arial"/>
                <a:cs typeface="Arial"/>
              </a:rPr>
              <a:t>WHAT WE BUILT</a:t>
            </a:r>
          </a:p>
        </p:txBody>
      </p:sp>
      <p:sp>
        <p:nvSpPr>
          <p:cNvPr id="10" name="Prototype &amp; Future Scope 127">
            <a:extLst xmlns:a="http://schemas.openxmlformats.org/drawingml/2006/main">
              <a:ext uri="{FF2B5EF4-FFF2-40B4-BE49-F238E27FC236}">
                <a16:creationId xmlns:a16="http://schemas.microsoft.com/office/drawing/2014/main" id="{E01EF7F7-CE78-409A-A2C0-7A7A6EE06BB5}"/>
              </a:ext>
            </a:extLst>
          </p:cNvPr>
          <p:cNvSpPr>
            <a:spLocks xmlns:a="http://schemas.openxmlformats.org/drawingml/2006/main" noGrp="1"/>
          </p:cNvSpPr>
          <p:nvPr/>
        </p:nvSpPr>
        <p:spPr>
          <a:xfrm xmlns:a="http://schemas.openxmlformats.org/drawingml/2006/main">
            <a:off x="533400" y="971550"/>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E8EEFD"/>
                </a:solidFill>
                <a:latin typeface="Arial"/>
                <a:ea typeface="Arial"/>
                <a:cs typeface="Arial"/>
              </a:defRPr>
            </a:pPr>
            <a:r>
              <a:rPr sz="3150" b="1">
                <a:solidFill>
                  <a:srgbClr val="E8EEFD"/>
                </a:solidFill>
                <a:latin typeface="Arial"/>
                <a:ea typeface="Arial"/>
                <a:cs typeface="Arial"/>
              </a:rPr>
              <a:t>Prototype &amp; </a:t>
            </a:r>
            <a:r>
              <a:rPr sz="3150" b="1">
                <a:gradFill>
                  <a:gsLst>
                    <a:gs pos="0">
                      <a:srgbClr val="40DDFF"/>
                    </a:gs>
                    <a:gs pos="50000">
                      <a:srgbClr val="9C7CFF"/>
                    </a:gs>
                    <a:gs pos="100000">
                      <a:srgbClr val="E775D2"/>
                    </a:gs>
                  </a:gsLst>
                  <a:lin ang="0"/>
                </a:gradFill>
                <a:latin typeface="Arial"/>
                <a:ea typeface="Arial"/>
                <a:cs typeface="Arial"/>
              </a:rPr>
              <a:t>Future Scope</a:t>
            </a:r>
          </a:p>
        </p:txBody>
      </p:sp>
      <p:sp>
        <p:nvSpPr>
          <p:cNvPr id="11" name="R A M P A G E   /   B I T  N  B U I L D  2 128">
            <a:extLst xmlns:a="http://schemas.openxmlformats.org/drawingml/2006/main">
              <a:ext uri="{FF2B5EF4-FFF2-40B4-BE49-F238E27FC236}">
                <a16:creationId xmlns:a16="http://schemas.microsoft.com/office/drawing/2014/main" id="{4432E007-A7D2-401E-831C-BDE3641393ED}"/>
              </a:ext>
            </a:extLst>
          </p:cNvPr>
          <p:cNvSpPr>
            <a:spLocks xmlns:a="http://schemas.openxmlformats.org/drawingml/2006/main" noGrp="1"/>
          </p:cNvSpPr>
          <p:nvPr/>
        </p:nvSpPr>
        <p:spPr>
          <a:xfrm xmlns:a="http://schemas.openxmlformats.org/drawingml/2006/main">
            <a:off x="533400" y="6591300"/>
            <a:ext cx="95250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50" b="0">
                <a:solidFill>
                  <a:srgbClr val="A7B5D4"/>
                </a:solidFill>
                <a:latin typeface="Arial"/>
                <a:ea typeface="Arial"/>
                <a:cs typeface="Arial"/>
              </a:defRPr>
            </a:pPr>
            <a:r>
              <a:rPr sz="750" b="0">
                <a:solidFill>
                  <a:srgbClr val="A7B5D4"/>
                </a:solidFill>
                <a:latin typeface="Arial"/>
                <a:ea typeface="Arial"/>
                <a:cs typeface="Arial"/>
              </a:rPr>
              <a:t>R A M P A G E   /   B I T  N  B U I L D  2 0 2 6</a:t>
            </a:r>
          </a:p>
        </p:txBody>
      </p:sp>
      <p:sp>
        <p:nvSpPr>
          <p:cNvPr id="12" name="Panel 129">
            <a:extLst xmlns:a="http://schemas.openxmlformats.org/drawingml/2006/main">
              <a:ext uri="{FF2B5EF4-FFF2-40B4-BE49-F238E27FC236}">
                <a16:creationId xmlns:a16="http://schemas.microsoft.com/office/drawing/2014/main" id="{3B9B0A81-9E2A-4EF5-897A-CC2D11F01A96}"/>
              </a:ext>
            </a:extLst>
          </p:cNvPr>
          <p:cNvSpPr>
            <a:spLocks xmlns:a="http://schemas.openxmlformats.org/drawingml/2006/main" noGrp="1"/>
          </p:cNvSpPr>
          <p:nvPr/>
        </p:nvSpPr>
        <p:spPr>
          <a:xfrm xmlns:a="http://schemas.openxmlformats.org/drawingml/2006/main">
            <a:off x="533400" y="1714500"/>
            <a:ext cx="6515100" cy="3914775"/>
          </a:xfrm>
          <a:prstGeom xmlns:a="http://schemas.openxmlformats.org/drawingml/2006/main" prst="roundRect">
            <a:avLst>
              <a:gd name="adj" fmla="val 4380"/>
            </a:avLst>
          </a:prstGeom>
          <a:solidFill xmlns:a="http://schemas.openxmlformats.org/drawingml/2006/main">
            <a:srgbClr val="FFFFFF">
              <a:alpha val="4000"/>
            </a:srgbClr>
          </a:solidFill>
          <a:ln xmlns:a="http://schemas.openxmlformats.org/drawingml/2006/main" w="6668">
            <a:solidFill>
              <a:srgbClr val="414451"/>
            </a:solidFill>
          </a:ln>
        </p:spPr>
      </p:sp>
      <p:sp>
        <p:nvSpPr>
          <p:cNvPr id="13" name="PROTOTYPE / DEMO 130">
            <a:extLst xmlns:a="http://schemas.openxmlformats.org/drawingml/2006/main">
              <a:ext uri="{FF2B5EF4-FFF2-40B4-BE49-F238E27FC236}">
                <a16:creationId xmlns:a16="http://schemas.microsoft.com/office/drawing/2014/main" id="{EAE54693-9F2A-499E-B66A-5405B9663D22}"/>
              </a:ext>
            </a:extLst>
          </p:cNvPr>
          <p:cNvSpPr>
            <a:spLocks xmlns:a="http://schemas.openxmlformats.org/drawingml/2006/main" noGrp="1"/>
          </p:cNvSpPr>
          <p:nvPr/>
        </p:nvSpPr>
        <p:spPr>
          <a:xfrm xmlns:a="http://schemas.openxmlformats.org/drawingml/2006/main">
            <a:off x="762000" y="1914525"/>
            <a:ext cx="6057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40DDFF"/>
                </a:solidFill>
                <a:latin typeface="Arial"/>
                <a:ea typeface="Arial"/>
                <a:cs typeface="Arial"/>
              </a:defRPr>
            </a:pPr>
            <a:r>
              <a:rPr sz="1050" b="1">
                <a:solidFill>
                  <a:srgbClr val="40DDFF"/>
                </a:solidFill>
                <a:latin typeface="Arial"/>
                <a:ea typeface="Arial"/>
                <a:cs typeface="Arial"/>
              </a:rPr>
              <a:t>PROTOTYPE / DEMO</a:t>
            </a:r>
          </a:p>
        </p:txBody>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62432a2b79754fd1"/>
          <a:stretch xmlns:a="http://schemas.openxmlformats.org/drawingml/2006/main"/>
        </p:blipFill>
        <p:spPr>
          <a:xfrm xmlns:a="http://schemas.openxmlformats.org/drawingml/2006/main">
            <a:off x="1813137" y="2181225"/>
            <a:ext cx="3955627" cy="2781300"/>
          </a:xfrm>
          <a:prstGeom xmlns:a="http://schemas.openxmlformats.org/drawingml/2006/main" prst="rect">
            <a:avLst/>
          </a:prstGeom>
        </p:spPr>
      </p:pic>
      <p:sp>
        <p:nvSpPr>
          <p:cNvPr id="15" name="Open the demo player 131">
            <a:extLst xmlns:a="http://schemas.openxmlformats.org/drawingml/2006/main">
              <a:ext uri="{FF2B5EF4-FFF2-40B4-BE49-F238E27FC236}">
                <a16:creationId xmlns:a16="http://schemas.microsoft.com/office/drawing/2014/main" id="{E9E11F13-CF6A-49A7-A339-18375E80432C}"/>
              </a:ext>
            </a:extLst>
          </p:cNvPr>
          <p:cNvSpPr>
            <a:spLocks xmlns:a="http://schemas.openxmlformats.org/drawingml/2006/main" noGrp="1"/>
          </p:cNvSpPr>
          <p:nvPr/>
        </p:nvSpPr>
        <p:spPr>
          <a:xfrm xmlns:a="http://schemas.openxmlformats.org/drawingml/2006/main">
            <a:off x="762000" y="5143500"/>
            <a:ext cx="5619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40DDFF"/>
                </a:solidFill>
                <a:latin typeface="Arial"/>
                <a:ea typeface="Arial"/>
                <a:cs typeface="Arial"/>
              </a:defRPr>
            </a:pPr>
            <a:r>
              <a:rPr sz="1725" b="0">
                <a:solidFill>
                  <a:srgbClr val="40DDFF"/>
                </a:solidFill>
                <a:latin typeface="Arial"/>
                <a:ea typeface="Arial"/>
                <a:cs typeface="Arial"/>
                <a:hlinkClick xmlns:r="http://schemas.openxmlformats.org/officeDocument/2006/relationships" r:id="Rde1f26a65ce442b9"/>
              </a:rPr>
              <a:t>Open the demo player</a:t>
            </a:r>
          </a:p>
        </p:txBody>
      </p:sp>
      <p:sp>
        <p:nvSpPr>
          <p:cNvPr id="16" name="Panel 132">
            <a:extLst xmlns:a="http://schemas.openxmlformats.org/drawingml/2006/main">
              <a:ext uri="{FF2B5EF4-FFF2-40B4-BE49-F238E27FC236}">
                <a16:creationId xmlns:a16="http://schemas.microsoft.com/office/drawing/2014/main" id="{24DD9EAD-9122-4619-AC4D-678D802D9DE9}"/>
              </a:ext>
            </a:extLst>
          </p:cNvPr>
          <p:cNvSpPr>
            <a:spLocks xmlns:a="http://schemas.openxmlformats.org/drawingml/2006/main" noGrp="1"/>
          </p:cNvSpPr>
          <p:nvPr/>
        </p:nvSpPr>
        <p:spPr>
          <a:xfrm xmlns:a="http://schemas.openxmlformats.org/drawingml/2006/main">
            <a:off x="7239000" y="1714500"/>
            <a:ext cx="4419600" cy="2152650"/>
          </a:xfrm>
          <a:prstGeom xmlns:a="http://schemas.openxmlformats.org/drawingml/2006/main" prst="roundRect">
            <a:avLst>
              <a:gd name="adj" fmla="val 7965"/>
            </a:avLst>
          </a:prstGeom>
          <a:solidFill xmlns:a="http://schemas.openxmlformats.org/drawingml/2006/main">
            <a:srgbClr val="FFFFFF">
              <a:alpha val="4000"/>
            </a:srgbClr>
          </a:solidFill>
          <a:ln xmlns:a="http://schemas.openxmlformats.org/drawingml/2006/main" w="6668">
            <a:solidFill>
              <a:srgbClr val="414451"/>
            </a:solidFill>
          </a:ln>
        </p:spPr>
      </p:sp>
      <p:sp>
        <p:nvSpPr>
          <p:cNvPr id="17" name="KEY SCREENS 133">
            <a:extLst xmlns:a="http://schemas.openxmlformats.org/drawingml/2006/main">
              <a:ext uri="{FF2B5EF4-FFF2-40B4-BE49-F238E27FC236}">
                <a16:creationId xmlns:a16="http://schemas.microsoft.com/office/drawing/2014/main" id="{CA7A548B-D346-4A9E-888C-2F3CD44211B4}"/>
              </a:ext>
            </a:extLst>
          </p:cNvPr>
          <p:cNvSpPr>
            <a:spLocks xmlns:a="http://schemas.openxmlformats.org/drawingml/2006/main" noGrp="1"/>
          </p:cNvSpPr>
          <p:nvPr/>
        </p:nvSpPr>
        <p:spPr>
          <a:xfrm xmlns:a="http://schemas.openxmlformats.org/drawingml/2006/main">
            <a:off x="7467600" y="1914525"/>
            <a:ext cx="3962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40DDFF"/>
                </a:solidFill>
                <a:latin typeface="Arial"/>
                <a:ea typeface="Arial"/>
                <a:cs typeface="Arial"/>
              </a:defRPr>
            </a:pPr>
            <a:r>
              <a:rPr sz="1050" b="1">
                <a:solidFill>
                  <a:srgbClr val="40DDFF"/>
                </a:solidFill>
                <a:latin typeface="Arial"/>
                <a:ea typeface="Arial"/>
                <a:cs typeface="Arial"/>
              </a:rPr>
              <a:t>KEY SCREENS</a:t>
            </a:r>
          </a:p>
        </p:txBody>
      </p:sp>
      <p:sp>
        <p:nvSpPr>
          <p:cNvPr id="18" name="Media dashboard 134">
            <a:extLst xmlns:a="http://schemas.openxmlformats.org/drawingml/2006/main">
              <a:ext uri="{FF2B5EF4-FFF2-40B4-BE49-F238E27FC236}">
                <a16:creationId xmlns:a16="http://schemas.microsoft.com/office/drawing/2014/main" id="{B448B912-06BB-434B-B82D-AB16C1E5EB5F}"/>
              </a:ext>
            </a:extLst>
          </p:cNvPr>
          <p:cNvSpPr>
            <a:spLocks xmlns:a="http://schemas.openxmlformats.org/drawingml/2006/main" noGrp="1"/>
          </p:cNvSpPr>
          <p:nvPr/>
        </p:nvSpPr>
        <p:spPr>
          <a:xfrm xmlns:a="http://schemas.openxmlformats.org/drawingml/2006/main">
            <a:off x="7467600" y="2238375"/>
            <a:ext cx="3962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E8EEFD"/>
                </a:solidFill>
                <a:latin typeface="Arial"/>
                <a:ea typeface="Arial"/>
                <a:cs typeface="Arial"/>
              </a:defRPr>
            </a:pPr>
            <a:r>
              <a:rPr sz="1500" b="0">
                <a:solidFill>
                  <a:srgbClr val="E8EEFD"/>
                </a:solidFill>
                <a:latin typeface="Arial"/>
                <a:ea typeface="Arial"/>
                <a:cs typeface="Arial"/>
              </a:rPr>
              <a:t>Media dashboard</a:t>
            </a:r>
          </a:p>
        </p:txBody>
      </p:sp>
      <p:sp>
        <p:nvSpPr>
          <p:cNvPr id="19" name="NEXA translation player 135">
            <a:extLst xmlns:a="http://schemas.openxmlformats.org/drawingml/2006/main">
              <a:ext uri="{FF2B5EF4-FFF2-40B4-BE49-F238E27FC236}">
                <a16:creationId xmlns:a16="http://schemas.microsoft.com/office/drawing/2014/main" id="{A5009A92-BB0B-4312-93C3-F3D395C12FB3}"/>
              </a:ext>
            </a:extLst>
          </p:cNvPr>
          <p:cNvSpPr>
            <a:spLocks xmlns:a="http://schemas.openxmlformats.org/drawingml/2006/main" noGrp="1"/>
          </p:cNvSpPr>
          <p:nvPr/>
        </p:nvSpPr>
        <p:spPr>
          <a:xfrm xmlns:a="http://schemas.openxmlformats.org/drawingml/2006/main">
            <a:off x="7467600" y="2590800"/>
            <a:ext cx="3962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E8EEFD"/>
                </a:solidFill>
                <a:latin typeface="Arial"/>
                <a:ea typeface="Arial"/>
                <a:cs typeface="Arial"/>
              </a:defRPr>
            </a:pPr>
            <a:r>
              <a:rPr sz="1500" b="0">
                <a:solidFill>
                  <a:srgbClr val="E8EEFD"/>
                </a:solidFill>
                <a:latin typeface="Arial"/>
                <a:ea typeface="Arial"/>
                <a:cs typeface="Arial"/>
              </a:rPr>
              <a:t>NEXA translation player</a:t>
            </a:r>
          </a:p>
        </p:txBody>
      </p:sp>
      <p:sp>
        <p:nvSpPr>
          <p:cNvPr id="20" name="Live Meetings: tab + microphone 136">
            <a:extLst xmlns:a="http://schemas.openxmlformats.org/drawingml/2006/main">
              <a:ext uri="{FF2B5EF4-FFF2-40B4-BE49-F238E27FC236}">
                <a16:creationId xmlns:a16="http://schemas.microsoft.com/office/drawing/2014/main" id="{AE369F24-2C87-4FEB-BA4F-AF734616A890}"/>
              </a:ext>
            </a:extLst>
          </p:cNvPr>
          <p:cNvSpPr>
            <a:spLocks xmlns:a="http://schemas.openxmlformats.org/drawingml/2006/main" noGrp="1"/>
          </p:cNvSpPr>
          <p:nvPr/>
        </p:nvSpPr>
        <p:spPr>
          <a:xfrm xmlns:a="http://schemas.openxmlformats.org/drawingml/2006/main">
            <a:off x="7467600" y="2943225"/>
            <a:ext cx="3962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E8EEFD"/>
                </a:solidFill>
                <a:latin typeface="Arial"/>
                <a:ea typeface="Arial"/>
                <a:cs typeface="Arial"/>
              </a:defRPr>
            </a:pPr>
            <a:r>
              <a:rPr sz="1500" b="0">
                <a:solidFill>
                  <a:srgbClr val="E8EEFD"/>
                </a:solidFill>
                <a:latin typeface="Arial"/>
                <a:ea typeface="Arial"/>
                <a:cs typeface="Arial"/>
              </a:rPr>
              <a:t>Live Meetings: tab + microphone</a:t>
            </a:r>
          </a:p>
        </p:txBody>
      </p:sp>
      <p:sp>
        <p:nvSpPr>
          <p:cNvPr id="21" name="Optional Firefox meeting sidebar 137">
            <a:extLst xmlns:a="http://schemas.openxmlformats.org/drawingml/2006/main">
              <a:ext uri="{FF2B5EF4-FFF2-40B4-BE49-F238E27FC236}">
                <a16:creationId xmlns:a16="http://schemas.microsoft.com/office/drawing/2014/main" id="{6083ECFB-9774-4061-A8FE-3FF93412FB04}"/>
              </a:ext>
            </a:extLst>
          </p:cNvPr>
          <p:cNvSpPr>
            <a:spLocks xmlns:a="http://schemas.openxmlformats.org/drawingml/2006/main" noGrp="1"/>
          </p:cNvSpPr>
          <p:nvPr/>
        </p:nvSpPr>
        <p:spPr>
          <a:xfrm xmlns:a="http://schemas.openxmlformats.org/drawingml/2006/main">
            <a:off x="7467600" y="3295650"/>
            <a:ext cx="3962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E8EEFD"/>
                </a:solidFill>
                <a:latin typeface="Arial"/>
                <a:ea typeface="Arial"/>
                <a:cs typeface="Arial"/>
              </a:defRPr>
            </a:pPr>
            <a:r>
              <a:rPr sz="1500" b="0">
                <a:solidFill>
                  <a:srgbClr val="E8EEFD"/>
                </a:solidFill>
                <a:latin typeface="Arial"/>
                <a:ea typeface="Arial"/>
                <a:cs typeface="Arial"/>
              </a:rPr>
              <a:t>Optional Firefox meeting sidebar</a:t>
            </a:r>
          </a:p>
        </p:txBody>
      </p:sp>
      <p:sp>
        <p:nvSpPr>
          <p:cNvPr id="22" name="Panel 138">
            <a:extLst xmlns:a="http://schemas.openxmlformats.org/drawingml/2006/main">
              <a:ext uri="{FF2B5EF4-FFF2-40B4-BE49-F238E27FC236}">
                <a16:creationId xmlns:a16="http://schemas.microsoft.com/office/drawing/2014/main" id="{0CFEFB97-7E72-44BA-A1EF-6EC9F8C6A7C9}"/>
              </a:ext>
            </a:extLst>
          </p:cNvPr>
          <p:cNvSpPr>
            <a:spLocks xmlns:a="http://schemas.openxmlformats.org/drawingml/2006/main" noGrp="1"/>
          </p:cNvSpPr>
          <p:nvPr/>
        </p:nvSpPr>
        <p:spPr>
          <a:xfrm xmlns:a="http://schemas.openxmlformats.org/drawingml/2006/main">
            <a:off x="7239000" y="4057650"/>
            <a:ext cx="4419600" cy="2305050"/>
          </a:xfrm>
          <a:prstGeom xmlns:a="http://schemas.openxmlformats.org/drawingml/2006/main" prst="roundRect">
            <a:avLst>
              <a:gd name="adj" fmla="val 7438"/>
            </a:avLst>
          </a:prstGeom>
          <a:solidFill xmlns:a="http://schemas.openxmlformats.org/drawingml/2006/main">
            <a:srgbClr val="FFFFFF">
              <a:alpha val="4000"/>
            </a:srgbClr>
          </a:solidFill>
          <a:ln xmlns:a="http://schemas.openxmlformats.org/drawingml/2006/main" w="6668">
            <a:solidFill>
              <a:srgbClr val="414451"/>
            </a:solidFill>
          </a:ln>
        </p:spPr>
      </p:sp>
      <p:sp>
        <p:nvSpPr>
          <p:cNvPr id="23" name="FUTURE IMPROVEMENTS 139">
            <a:extLst xmlns:a="http://schemas.openxmlformats.org/drawingml/2006/main">
              <a:ext uri="{FF2B5EF4-FFF2-40B4-BE49-F238E27FC236}">
                <a16:creationId xmlns:a16="http://schemas.microsoft.com/office/drawing/2014/main" id="{2475C7CC-F562-4DE4-A4F8-07574BE5B334}"/>
              </a:ext>
            </a:extLst>
          </p:cNvPr>
          <p:cNvSpPr>
            <a:spLocks xmlns:a="http://schemas.openxmlformats.org/drawingml/2006/main" noGrp="1"/>
          </p:cNvSpPr>
          <p:nvPr/>
        </p:nvSpPr>
        <p:spPr>
          <a:xfrm xmlns:a="http://schemas.openxmlformats.org/drawingml/2006/main">
            <a:off x="7467600" y="4257675"/>
            <a:ext cx="3962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40DDFF"/>
                </a:solidFill>
                <a:latin typeface="Arial"/>
                <a:ea typeface="Arial"/>
                <a:cs typeface="Arial"/>
              </a:defRPr>
            </a:pPr>
            <a:r>
              <a:rPr sz="1050" b="1">
                <a:solidFill>
                  <a:srgbClr val="40DDFF"/>
                </a:solidFill>
                <a:latin typeface="Arial"/>
                <a:ea typeface="Arial"/>
                <a:cs typeface="Arial"/>
              </a:rPr>
              <a:t>FUTURE IMPROVEMENTS</a:t>
            </a:r>
          </a:p>
        </p:txBody>
      </p:sp>
      <p:sp>
        <p:nvSpPr>
          <p:cNvPr id="24" name="Sign-to-text via webcam 140">
            <a:extLst xmlns:a="http://schemas.openxmlformats.org/drawingml/2006/main">
              <a:ext uri="{FF2B5EF4-FFF2-40B4-BE49-F238E27FC236}">
                <a16:creationId xmlns:a16="http://schemas.microsoft.com/office/drawing/2014/main" id="{4A36A769-1082-4914-B763-3236EBFF68B7}"/>
              </a:ext>
            </a:extLst>
          </p:cNvPr>
          <p:cNvSpPr>
            <a:spLocks xmlns:a="http://schemas.openxmlformats.org/drawingml/2006/main" noGrp="1"/>
          </p:cNvSpPr>
          <p:nvPr/>
        </p:nvSpPr>
        <p:spPr>
          <a:xfrm xmlns:a="http://schemas.openxmlformats.org/drawingml/2006/main">
            <a:off x="7467600" y="4581525"/>
            <a:ext cx="39624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E8EEFD"/>
                </a:solidFill>
                <a:latin typeface="Arial"/>
                <a:ea typeface="Arial"/>
                <a:cs typeface="Arial"/>
              </a:defRPr>
            </a:pPr>
            <a:r>
              <a:rPr sz="1575" b="0">
                <a:solidFill>
                  <a:srgbClr val="E8EEFD"/>
                </a:solidFill>
                <a:latin typeface="Arial"/>
                <a:ea typeface="Arial"/>
                <a:cs typeface="Arial"/>
              </a:rPr>
              <a:t>Sign-to-text via webcam</a:t>
            </a:r>
          </a:p>
        </p:txBody>
      </p:sp>
      <p:sp>
        <p:nvSpPr>
          <p:cNvPr id="25" name="Validated language and regional vocabulary 141">
            <a:extLst xmlns:a="http://schemas.openxmlformats.org/drawingml/2006/main">
              <a:ext uri="{FF2B5EF4-FFF2-40B4-BE49-F238E27FC236}">
                <a16:creationId xmlns:a16="http://schemas.microsoft.com/office/drawing/2014/main" id="{7BE5D52D-C2DE-486A-A264-7A7F858B2228}"/>
              </a:ext>
            </a:extLst>
          </p:cNvPr>
          <p:cNvSpPr>
            <a:spLocks xmlns:a="http://schemas.openxmlformats.org/drawingml/2006/main" noGrp="1"/>
          </p:cNvSpPr>
          <p:nvPr/>
        </p:nvSpPr>
        <p:spPr>
          <a:xfrm xmlns:a="http://schemas.openxmlformats.org/drawingml/2006/main">
            <a:off x="7467600" y="5076825"/>
            <a:ext cx="39624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E8EEFD"/>
                </a:solidFill>
                <a:latin typeface="Arial"/>
                <a:ea typeface="Arial"/>
                <a:cs typeface="Arial"/>
              </a:defRPr>
            </a:pPr>
            <a:r>
              <a:rPr sz="1575" b="0">
                <a:solidFill>
                  <a:srgbClr val="E8EEFD"/>
                </a:solidFill>
                <a:latin typeface="Arial"/>
                <a:ea typeface="Arial"/>
                <a:cs typeface="Arial"/>
              </a:rPr>
              <a:t>Validated language and regional vocabulary</a:t>
            </a:r>
          </a:p>
        </p:txBody>
      </p:sp>
      <p:sp>
        <p:nvSpPr>
          <p:cNvPr id="26" name="Personalized avatars 142">
            <a:extLst xmlns:a="http://schemas.openxmlformats.org/drawingml/2006/main">
              <a:ext uri="{FF2B5EF4-FFF2-40B4-BE49-F238E27FC236}">
                <a16:creationId xmlns:a16="http://schemas.microsoft.com/office/drawing/2014/main" id="{72925042-E332-44AA-AC3B-4D11A95ED437}"/>
              </a:ext>
            </a:extLst>
          </p:cNvPr>
          <p:cNvSpPr>
            <a:spLocks xmlns:a="http://schemas.openxmlformats.org/drawingml/2006/main" noGrp="1"/>
          </p:cNvSpPr>
          <p:nvPr/>
        </p:nvSpPr>
        <p:spPr>
          <a:xfrm xmlns:a="http://schemas.openxmlformats.org/drawingml/2006/main">
            <a:off x="7467600" y="5572125"/>
            <a:ext cx="39624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E8EEFD"/>
                </a:solidFill>
                <a:latin typeface="Arial"/>
                <a:ea typeface="Arial"/>
                <a:cs typeface="Arial"/>
              </a:defRPr>
            </a:pPr>
            <a:r>
              <a:rPr sz="1575" b="0">
                <a:solidFill>
                  <a:srgbClr val="E8EEFD"/>
                </a:solidFill>
                <a:latin typeface="Arial"/>
                <a:ea typeface="Arial"/>
                <a:cs typeface="Arial"/>
              </a:rPr>
              <a:t>Personalized avatars</a:t>
            </a:r>
          </a:p>
        </p:txBody>
      </p:sp>
      <p:sp>
        <p:nvSpPr>
          <p:cNvPr id="27" name="Panel 143">
            <a:extLst xmlns:a="http://schemas.openxmlformats.org/drawingml/2006/main">
              <a:ext uri="{FF2B5EF4-FFF2-40B4-BE49-F238E27FC236}">
                <a16:creationId xmlns:a16="http://schemas.microsoft.com/office/drawing/2014/main" id="{E02927D0-4177-4BC0-A731-ED99826A25C5}"/>
              </a:ext>
            </a:extLst>
          </p:cNvPr>
          <p:cNvSpPr>
            <a:spLocks xmlns:a="http://schemas.openxmlformats.org/drawingml/2006/main" noGrp="1"/>
          </p:cNvSpPr>
          <p:nvPr/>
        </p:nvSpPr>
        <p:spPr>
          <a:xfrm xmlns:a="http://schemas.openxmlformats.org/drawingml/2006/main">
            <a:off x="533400" y="5810250"/>
            <a:ext cx="6515100" cy="552450"/>
          </a:xfrm>
          <a:prstGeom xmlns:a="http://schemas.openxmlformats.org/drawingml/2006/main" prst="roundRect">
            <a:avLst>
              <a:gd name="adj" fmla="val 31034"/>
            </a:avLst>
          </a:prstGeom>
          <a:solidFill xmlns:a="http://schemas.openxmlformats.org/drawingml/2006/main">
            <a:srgbClr val="FFFFFF">
              <a:alpha val="4000"/>
            </a:srgbClr>
          </a:solidFill>
          <a:ln xmlns:a="http://schemas.openxmlformats.org/drawingml/2006/main" w="6668">
            <a:solidFill>
              <a:srgbClr val="414451"/>
            </a:solidFill>
          </a:ln>
        </p:spPr>
      </p:sp>
      <p:sp>
        <p:nvSpPr>
          <p:cNvPr id="28" name="Live app 144">
            <a:extLst xmlns:a="http://schemas.openxmlformats.org/drawingml/2006/main">
              <a:ext uri="{FF2B5EF4-FFF2-40B4-BE49-F238E27FC236}">
                <a16:creationId xmlns:a16="http://schemas.microsoft.com/office/drawing/2014/main" id="{249993B9-E4C0-4ECF-A919-2B65F163FB44}"/>
              </a:ext>
            </a:extLst>
          </p:cNvPr>
          <p:cNvSpPr>
            <a:spLocks xmlns:a="http://schemas.openxmlformats.org/drawingml/2006/main" noGrp="1"/>
          </p:cNvSpPr>
          <p:nvPr/>
        </p:nvSpPr>
        <p:spPr>
          <a:xfrm xmlns:a="http://schemas.openxmlformats.org/drawingml/2006/main">
            <a:off x="762000" y="597217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40DDFF"/>
                </a:solidFill>
                <a:latin typeface="Arial"/>
                <a:ea typeface="Arial"/>
                <a:cs typeface="Arial"/>
              </a:defRPr>
            </a:pPr>
            <a:r>
              <a:rPr sz="1500" b="0">
                <a:solidFill>
                  <a:srgbClr val="40DDFF"/>
                </a:solidFill>
                <a:latin typeface="Arial"/>
                <a:ea typeface="Arial"/>
                <a:cs typeface="Arial"/>
                <a:hlinkClick xmlns:r="http://schemas.openxmlformats.org/officeDocument/2006/relationships" r:id="R1b5e9c20f6cc4833"/>
              </a:rPr>
              <a:t>Live app</a:t>
            </a:r>
          </a:p>
        </p:txBody>
      </p:sp>
      <p:sp>
        <p:nvSpPr>
          <p:cNvPr id="29" name="Live Meetings 145">
            <a:extLst xmlns:a="http://schemas.openxmlformats.org/drawingml/2006/main">
              <a:ext uri="{FF2B5EF4-FFF2-40B4-BE49-F238E27FC236}">
                <a16:creationId xmlns:a16="http://schemas.microsoft.com/office/drawing/2014/main" id="{5915F41B-308D-4962-ABBA-C4A704C626E9}"/>
              </a:ext>
            </a:extLst>
          </p:cNvPr>
          <p:cNvSpPr>
            <a:spLocks xmlns:a="http://schemas.openxmlformats.org/drawingml/2006/main" noGrp="1"/>
          </p:cNvSpPr>
          <p:nvPr/>
        </p:nvSpPr>
        <p:spPr>
          <a:xfrm xmlns:a="http://schemas.openxmlformats.org/drawingml/2006/main">
            <a:off x="2619375" y="5972175"/>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40DDFF"/>
                </a:solidFill>
                <a:latin typeface="Arial"/>
                <a:ea typeface="Arial"/>
                <a:cs typeface="Arial"/>
              </a:defRPr>
            </a:pPr>
            <a:r>
              <a:rPr sz="1500" b="0">
                <a:solidFill>
                  <a:srgbClr val="40DDFF"/>
                </a:solidFill>
                <a:latin typeface="Arial"/>
                <a:ea typeface="Arial"/>
                <a:cs typeface="Arial"/>
                <a:hlinkClick xmlns:r="http://schemas.openxmlformats.org/officeDocument/2006/relationships" r:id="R9b277e220c144332"/>
              </a:rPr>
              <a:t>Live Meetings</a:t>
            </a:r>
          </a:p>
        </p:txBody>
      </p:sp>
      <p:sp>
        <p:nvSpPr>
          <p:cNvPr id="30" name="GitHub repository 146">
            <a:extLst xmlns:a="http://schemas.openxmlformats.org/drawingml/2006/main">
              <a:ext uri="{FF2B5EF4-FFF2-40B4-BE49-F238E27FC236}">
                <a16:creationId xmlns:a16="http://schemas.microsoft.com/office/drawing/2014/main" id="{11A2696C-0148-4076-99F5-B5EBA9553A9F}"/>
              </a:ext>
            </a:extLst>
          </p:cNvPr>
          <p:cNvSpPr>
            <a:spLocks xmlns:a="http://schemas.openxmlformats.org/drawingml/2006/main" noGrp="1"/>
          </p:cNvSpPr>
          <p:nvPr/>
        </p:nvSpPr>
        <p:spPr>
          <a:xfrm xmlns:a="http://schemas.openxmlformats.org/drawingml/2006/main">
            <a:off x="4752975" y="5972175"/>
            <a:ext cx="2076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40DDFF"/>
                </a:solidFill>
                <a:latin typeface="Arial"/>
                <a:ea typeface="Arial"/>
                <a:cs typeface="Arial"/>
              </a:defRPr>
            </a:pPr>
            <a:r>
              <a:rPr sz="1500" b="0">
                <a:solidFill>
                  <a:srgbClr val="40DDFF"/>
                </a:solidFill>
                <a:latin typeface="Arial"/>
                <a:ea typeface="Arial"/>
                <a:cs typeface="Arial"/>
                <a:hlinkClick xmlns:r="http://schemas.openxmlformats.org/officeDocument/2006/relationships" r:id="R35b537ebea154330"/>
              </a:rPr>
              <a:t>GitHub repository</a:t>
            </a:r>
          </a:p>
        </p:txBody>
      </p:sp>
    </p:spTree>
    <p:extLst>
      <p:ext uri="{BB962C8B-B14F-4D97-AF65-F5344CB8AC3E}">
        <p14:creationId xmlns:p14="http://schemas.microsoft.com/office/powerpoint/2010/main" val="13645198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2026-09-13T05:11:16.2280000Z</dcterms:created>
  <dcterms:modified xsi:type="dcterms:W3CDTF">2026-09-13T05:11:16.2280000Z</dcterms:modified>
</coreProperties>
</file>